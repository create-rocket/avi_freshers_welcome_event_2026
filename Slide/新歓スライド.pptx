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5" r:id="rId1"/>
  </p:sldMasterIdLst>
  <p:notesMasterIdLst>
    <p:notesMasterId r:id="rId35"/>
  </p:notesMasterIdLst>
  <p:sldIdLst>
    <p:sldId id="256" r:id="rId2"/>
    <p:sldId id="257" r:id="rId3"/>
    <p:sldId id="282" r:id="rId4"/>
    <p:sldId id="277" r:id="rId5"/>
    <p:sldId id="304" r:id="rId6"/>
    <p:sldId id="305" r:id="rId7"/>
    <p:sldId id="306" r:id="rId8"/>
    <p:sldId id="307" r:id="rId9"/>
    <p:sldId id="279" r:id="rId10"/>
    <p:sldId id="273" r:id="rId11"/>
    <p:sldId id="274" r:id="rId12"/>
    <p:sldId id="308" r:id="rId13"/>
    <p:sldId id="309" r:id="rId14"/>
    <p:sldId id="302" r:id="rId15"/>
    <p:sldId id="310" r:id="rId16"/>
    <p:sldId id="312" r:id="rId17"/>
    <p:sldId id="296" r:id="rId18"/>
    <p:sldId id="295" r:id="rId19"/>
    <p:sldId id="301" r:id="rId20"/>
    <p:sldId id="297" r:id="rId21"/>
    <p:sldId id="313" r:id="rId22"/>
    <p:sldId id="314" r:id="rId23"/>
    <p:sldId id="315" r:id="rId24"/>
    <p:sldId id="316" r:id="rId25"/>
    <p:sldId id="317" r:id="rId26"/>
    <p:sldId id="318" r:id="rId27"/>
    <p:sldId id="319" r:id="rId28"/>
    <p:sldId id="287" r:id="rId29"/>
    <p:sldId id="271" r:id="rId30"/>
    <p:sldId id="289" r:id="rId31"/>
    <p:sldId id="288" r:id="rId32"/>
    <p:sldId id="261" r:id="rId33"/>
    <p:sldId id="262"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BE6D"/>
    <a:srgbClr val="EA9010"/>
    <a:srgbClr val="C9E3AC"/>
    <a:srgbClr val="3737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24"/>
    <p:restoredTop sz="94720"/>
  </p:normalViewPr>
  <p:slideViewPr>
    <p:cSldViewPr snapToGrid="0">
      <p:cViewPr varScale="1">
        <p:scale>
          <a:sx n="64" d="100"/>
          <a:sy n="64" d="100"/>
        </p:scale>
        <p:origin x="84" y="13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ja-JP"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4083D77A-8329-6366-37D1-61DA8321E04D}"/>
            </a:ext>
          </a:extLst>
        </p:cNvPr>
        <p:cNvGrpSpPr/>
        <p:nvPr/>
      </p:nvGrpSpPr>
      <p:grpSpPr>
        <a:xfrm>
          <a:off x="0" y="0"/>
          <a:ext cx="0" cy="0"/>
          <a:chOff x="0" y="0"/>
          <a:chExt cx="0" cy="0"/>
        </a:xfrm>
      </p:grpSpPr>
      <p:sp>
        <p:nvSpPr>
          <p:cNvPr id="82" name="Google Shape;82;p3:notes">
            <a:extLst>
              <a:ext uri="{FF2B5EF4-FFF2-40B4-BE49-F238E27FC236}">
                <a16:creationId xmlns:a16="http://schemas.microsoft.com/office/drawing/2014/main" id="{D7B2C8E1-3A96-BBAD-5C22-AAD2D5504BE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p3:notes">
            <a:extLst>
              <a:ext uri="{FF2B5EF4-FFF2-40B4-BE49-F238E27FC236}">
                <a16:creationId xmlns:a16="http://schemas.microsoft.com/office/drawing/2014/main" id="{C77B289D-91EB-30C1-DE95-00821F9C8B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7748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ltLang="ja-JP"/>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endParaRPr dirty="0"/>
          </a:p>
        </p:txBody>
      </p:sp>
      <p:sp>
        <p:nvSpPr>
          <p:cNvPr id="125" name="Google Shape;12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B5A68D59-D5DC-390E-1F7D-427755BF7A59}"/>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4B428C6E-7C7D-6931-A1EF-E13DB11EEFD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6:notes">
            <a:extLst>
              <a:ext uri="{FF2B5EF4-FFF2-40B4-BE49-F238E27FC236}">
                <a16:creationId xmlns:a16="http://schemas.microsoft.com/office/drawing/2014/main" id="{B5291EEF-7652-7D81-4444-8FA5C1686FB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endParaRPr dirty="0"/>
          </a:p>
        </p:txBody>
      </p:sp>
      <p:sp>
        <p:nvSpPr>
          <p:cNvPr id="125" name="Google Shape;125;p6:notes">
            <a:extLst>
              <a:ext uri="{FF2B5EF4-FFF2-40B4-BE49-F238E27FC236}">
                <a16:creationId xmlns:a16="http://schemas.microsoft.com/office/drawing/2014/main" id="{814C4BB2-D526-170D-0E49-7DCD19B498E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7</a:t>
            </a:fld>
            <a:endParaRPr/>
          </a:p>
        </p:txBody>
      </p:sp>
    </p:spTree>
    <p:extLst>
      <p:ext uri="{BB962C8B-B14F-4D97-AF65-F5344CB8AC3E}">
        <p14:creationId xmlns:p14="http://schemas.microsoft.com/office/powerpoint/2010/main" val="1115843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01537C6D-1BF2-EFBE-00DE-84B418B70CB5}"/>
            </a:ext>
          </a:extLst>
        </p:cNvPr>
        <p:cNvGrpSpPr/>
        <p:nvPr/>
      </p:nvGrpSpPr>
      <p:grpSpPr>
        <a:xfrm>
          <a:off x="0" y="0"/>
          <a:ext cx="0" cy="0"/>
          <a:chOff x="0" y="0"/>
          <a:chExt cx="0" cy="0"/>
        </a:xfrm>
      </p:grpSpPr>
      <p:sp>
        <p:nvSpPr>
          <p:cNvPr id="123" name="Google Shape;123;p6:notes">
            <a:extLst>
              <a:ext uri="{FF2B5EF4-FFF2-40B4-BE49-F238E27FC236}">
                <a16:creationId xmlns:a16="http://schemas.microsoft.com/office/drawing/2014/main" id="{E5FD6CC2-C1E7-58B6-0050-DADCF7E6CC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6:notes">
            <a:extLst>
              <a:ext uri="{FF2B5EF4-FFF2-40B4-BE49-F238E27FC236}">
                <a16:creationId xmlns:a16="http://schemas.microsoft.com/office/drawing/2014/main" id="{B2D2B173-8846-4B25-B31E-9FC78FBBD33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Arial"/>
              <a:buNone/>
            </a:pPr>
            <a:endParaRPr dirty="0"/>
          </a:p>
        </p:txBody>
      </p:sp>
      <p:sp>
        <p:nvSpPr>
          <p:cNvPr id="125" name="Google Shape;125;p6:notes">
            <a:extLst>
              <a:ext uri="{FF2B5EF4-FFF2-40B4-BE49-F238E27FC236}">
                <a16:creationId xmlns:a16="http://schemas.microsoft.com/office/drawing/2014/main" id="{ECF0F44D-C453-4AE3-7E33-AEB355F1608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8</a:t>
            </a:fld>
            <a:endParaRPr/>
          </a:p>
        </p:txBody>
      </p:sp>
    </p:spTree>
    <p:extLst>
      <p:ext uri="{BB962C8B-B14F-4D97-AF65-F5344CB8AC3E}">
        <p14:creationId xmlns:p14="http://schemas.microsoft.com/office/powerpoint/2010/main" val="23968850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0CEEDB30-484F-32EF-FDD9-86C547A75A9A}"/>
            </a:ext>
          </a:extLst>
        </p:cNvPr>
        <p:cNvGrpSpPr/>
        <p:nvPr/>
      </p:nvGrpSpPr>
      <p:grpSpPr>
        <a:xfrm>
          <a:off x="0" y="0"/>
          <a:ext cx="0" cy="0"/>
          <a:chOff x="0" y="0"/>
          <a:chExt cx="0" cy="0"/>
        </a:xfrm>
      </p:grpSpPr>
      <p:sp>
        <p:nvSpPr>
          <p:cNvPr id="82" name="Google Shape;82;p3:notes">
            <a:extLst>
              <a:ext uri="{FF2B5EF4-FFF2-40B4-BE49-F238E27FC236}">
                <a16:creationId xmlns:a16="http://schemas.microsoft.com/office/drawing/2014/main" id="{6D26BBBA-F228-6631-7FC0-CAB0F8556D4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p3:notes">
            <a:extLst>
              <a:ext uri="{FF2B5EF4-FFF2-40B4-BE49-F238E27FC236}">
                <a16:creationId xmlns:a16="http://schemas.microsoft.com/office/drawing/2014/main" id="{9E569680-F8F8-459B-DCBD-314C84D84E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1191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B1DCA-70EE-E72C-E747-79424CB4A09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191E058-D9FB-C648-FFE2-30234A1370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8F1020F-6A3E-60C5-7194-D51F634EBC7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dirty="0"/>
          </a:p>
        </p:txBody>
      </p:sp>
      <p:sp>
        <p:nvSpPr>
          <p:cNvPr id="4" name="スライド番号プレースホルダー 3">
            <a:extLst>
              <a:ext uri="{FF2B5EF4-FFF2-40B4-BE49-F238E27FC236}">
                <a16:creationId xmlns:a16="http://schemas.microsoft.com/office/drawing/2014/main" id="{C86D0B69-2598-701E-C3E2-CB038251A23D}"/>
              </a:ext>
            </a:extLst>
          </p:cNvPr>
          <p:cNvSpPr>
            <a:spLocks noGrp="1"/>
          </p:cNvSpPr>
          <p:nvPr>
            <p:ph type="sldNum" sz="quarter" idx="5"/>
          </p:nvPr>
        </p:nvSpPr>
        <p:spPr/>
        <p:txBody>
          <a:bodyPr/>
          <a:lstStyle/>
          <a:p>
            <a:fld id="{D038AEB5-C281-467C-B5DE-99D6AB549DC6}" type="slidenum">
              <a:rPr kumimoji="1" lang="ja-JP" altLang="en-US" smtClean="0"/>
              <a:t>21</a:t>
            </a:fld>
            <a:endParaRPr kumimoji="1" lang="ja-JP" altLang="en-US"/>
          </a:p>
        </p:txBody>
      </p:sp>
    </p:spTree>
    <p:extLst>
      <p:ext uri="{BB962C8B-B14F-4D97-AF65-F5344CB8AC3E}">
        <p14:creationId xmlns:p14="http://schemas.microsoft.com/office/powerpoint/2010/main" val="1118558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a:extLst>
            <a:ext uri="{FF2B5EF4-FFF2-40B4-BE49-F238E27FC236}">
              <a16:creationId xmlns:a16="http://schemas.microsoft.com/office/drawing/2014/main" id="{250DAE5A-EAA7-D105-7B1B-6EDF9AA71C39}"/>
            </a:ext>
          </a:extLst>
        </p:cNvPr>
        <p:cNvGrpSpPr/>
        <p:nvPr/>
      </p:nvGrpSpPr>
      <p:grpSpPr>
        <a:xfrm>
          <a:off x="0" y="0"/>
          <a:ext cx="0" cy="0"/>
          <a:chOff x="0" y="0"/>
          <a:chExt cx="0" cy="0"/>
        </a:xfrm>
      </p:grpSpPr>
      <p:sp>
        <p:nvSpPr>
          <p:cNvPr id="82" name="Google Shape;82;p3:notes">
            <a:extLst>
              <a:ext uri="{FF2B5EF4-FFF2-40B4-BE49-F238E27FC236}">
                <a16:creationId xmlns:a16="http://schemas.microsoft.com/office/drawing/2014/main" id="{BE6369DB-2587-EDB8-5173-976EDE800F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 name="Google Shape;83;p3:notes">
            <a:extLst>
              <a:ext uri="{FF2B5EF4-FFF2-40B4-BE49-F238E27FC236}">
                <a16:creationId xmlns:a16="http://schemas.microsoft.com/office/drawing/2014/main" id="{50C04F04-EC78-AE1D-98EF-FFFF656BB6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399482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ltLang="ja-JP"/>
              <a:t>33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b="1" i="0">
                <a:solidFill>
                  <a:srgbClr val="37371F"/>
                </a:solidFill>
                <a:latin typeface="A P-OTF Gothic MB101 Pr6N B" panose="020B0400000000000000" pitchFamily="34" charset="-128"/>
                <a:ea typeface="A P-OTF Gothic MB101 Pr6N B" panose="020B0400000000000000" pitchFamily="34" charset="-128"/>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4" name="Google Shape;14;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solidFill>
                  <a:srgbClr val="37371F"/>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 name="Google Shape;15;p2"/>
          <p:cNvSpPr txBox="1"/>
          <p:nvPr/>
        </p:nvSpPr>
        <p:spPr>
          <a:xfrm>
            <a:off x="2352232" y="-315000"/>
            <a:ext cx="7487535" cy="7488000"/>
          </a:xfrm>
          <a:prstGeom prst="rect">
            <a:avLst/>
          </a:prstGeom>
          <a:blipFill rotWithShape="1">
            <a:blip r:embed="rId2">
              <a:alphaModFix amt="40000"/>
            </a:blip>
            <a:stretch>
              <a:fillRect/>
            </a:stretch>
          </a:blip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427383" y="266699"/>
            <a:ext cx="8844804" cy="75545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Calibri"/>
              <a:buNone/>
              <a:defRPr sz="4000" b="1" i="0">
                <a:solidFill>
                  <a:srgbClr val="37371F"/>
                </a:solidFill>
                <a:latin typeface="A P-OTF Gothic MB101 Pr6N B" panose="020B0400000000000000" pitchFamily="34" charset="-128"/>
                <a:ea typeface="A P-OTF Gothic MB101 Pr6N B" panose="020B0400000000000000" pitchFamily="34" charset="-128"/>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8" name="Google Shape;18;p3"/>
          <p:cNvSpPr txBox="1">
            <a:spLocks noGrp="1"/>
          </p:cNvSpPr>
          <p:nvPr>
            <p:ph type="body" idx="1"/>
          </p:nvPr>
        </p:nvSpPr>
        <p:spPr>
          <a:xfrm>
            <a:off x="427383" y="1487227"/>
            <a:ext cx="10515600" cy="497707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baseline="0">
                <a:solidFill>
                  <a:srgbClr val="37371F"/>
                </a:solidFill>
                <a:latin typeface="Helvetica Neue" panose="02000503000000020004" pitchFamily="2" charset="0"/>
                <a:ea typeface="A-OTF 中ゴシックBBB Pr6N Med" panose="020B0400000000000000" pitchFamily="34" charset="-128"/>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pic>
        <p:nvPicPr>
          <p:cNvPr id="19" name="Google Shape;19;p3"/>
          <p:cNvPicPr preferRelativeResize="0"/>
          <p:nvPr/>
        </p:nvPicPr>
        <p:blipFill rotWithShape="1">
          <a:blip r:embed="rId2">
            <a:alphaModFix/>
          </a:blip>
          <a:srcRect/>
          <a:stretch/>
        </p:blipFill>
        <p:spPr>
          <a:xfrm rot="5400000">
            <a:off x="11096079" y="228375"/>
            <a:ext cx="338396" cy="1499355"/>
          </a:xfrm>
          <a:prstGeom prst="rect">
            <a:avLst/>
          </a:prstGeom>
          <a:noFill/>
          <a:ln>
            <a:noFill/>
          </a:ln>
        </p:spPr>
      </p:pic>
      <p:cxnSp>
        <p:nvCxnSpPr>
          <p:cNvPr id="20" name="Google Shape;20;p3"/>
          <p:cNvCxnSpPr/>
          <p:nvPr/>
        </p:nvCxnSpPr>
        <p:spPr>
          <a:xfrm>
            <a:off x="0" y="976750"/>
            <a:ext cx="10942983" cy="0"/>
          </a:xfrm>
          <a:prstGeom prst="straightConnector1">
            <a:avLst/>
          </a:prstGeom>
          <a:noFill/>
          <a:ln w="28575" cap="flat" cmpd="sng">
            <a:solidFill>
              <a:srgbClr val="757070"/>
            </a:solidFill>
            <a:prstDash val="solid"/>
            <a:miter lim="800000"/>
            <a:headEnd type="none" w="sm" len="sm"/>
            <a:tailEnd type="none" w="sm" len="sm"/>
          </a:ln>
        </p:spPr>
      </p:cxnSp>
      <p:sp>
        <p:nvSpPr>
          <p:cNvPr id="21" name="Google Shape;21;p3"/>
          <p:cNvSpPr txBox="1">
            <a:spLocks noGrp="1"/>
          </p:cNvSpPr>
          <p:nvPr>
            <p:ph type="sldNum" idx="12"/>
          </p:nvPr>
        </p:nvSpPr>
        <p:spPr>
          <a:xfrm>
            <a:off x="11684000" y="6464300"/>
            <a:ext cx="508000" cy="3937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ja-JP"/>
              <a:t>‹#›</a:t>
            </a:fld>
            <a:endParaRPr/>
          </a:p>
        </p:txBody>
      </p:sp>
      <p:pic>
        <p:nvPicPr>
          <p:cNvPr id="22" name="Google Shape;22;p3" descr="図形 が含まれている画像&#10;&#10;自動的に生成された説明"/>
          <p:cNvPicPr preferRelativeResize="0"/>
          <p:nvPr/>
        </p:nvPicPr>
        <p:blipFill rotWithShape="1">
          <a:blip r:embed="rId3">
            <a:alphaModFix/>
          </a:blip>
          <a:srcRect/>
          <a:stretch/>
        </p:blipFill>
        <p:spPr>
          <a:xfrm>
            <a:off x="9461241" y="67743"/>
            <a:ext cx="2574860" cy="52533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タイトルとコンテンツ" preserve="1" userDrawn="1">
  <p:cSld name="1_タイトルとコンテンツ">
    <p:spTree>
      <p:nvGrpSpPr>
        <p:cNvPr id="1" name="Shape 16"/>
        <p:cNvGrpSpPr/>
        <p:nvPr/>
      </p:nvGrpSpPr>
      <p:grpSpPr>
        <a:xfrm>
          <a:off x="0" y="0"/>
          <a:ext cx="0" cy="0"/>
          <a:chOff x="0" y="0"/>
          <a:chExt cx="0" cy="0"/>
        </a:xfrm>
      </p:grpSpPr>
      <p:sp>
        <p:nvSpPr>
          <p:cNvPr id="18" name="Google Shape;18;p3"/>
          <p:cNvSpPr txBox="1">
            <a:spLocks noGrp="1"/>
          </p:cNvSpPr>
          <p:nvPr>
            <p:ph type="body" idx="1"/>
          </p:nvPr>
        </p:nvSpPr>
        <p:spPr>
          <a:xfrm>
            <a:off x="427383" y="1948996"/>
            <a:ext cx="10515600" cy="45153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baseline="0">
                <a:solidFill>
                  <a:srgbClr val="37371F"/>
                </a:solidFill>
                <a:latin typeface="Helvetica Neue" panose="02000503000000020004" pitchFamily="2" charset="0"/>
                <a:ea typeface="A-OTF Gothic BBB Pr6N Medium" panose="020B0400000000000000" pitchFamily="34" charset="-128"/>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pic>
        <p:nvPicPr>
          <p:cNvPr id="19" name="Google Shape;19;p3"/>
          <p:cNvPicPr preferRelativeResize="0"/>
          <p:nvPr/>
        </p:nvPicPr>
        <p:blipFill rotWithShape="1">
          <a:blip r:embed="rId2">
            <a:alphaModFix/>
          </a:blip>
          <a:srcRect/>
          <a:stretch/>
        </p:blipFill>
        <p:spPr>
          <a:xfrm rot="5400000">
            <a:off x="11096079" y="228375"/>
            <a:ext cx="338396" cy="1499355"/>
          </a:xfrm>
          <a:prstGeom prst="rect">
            <a:avLst/>
          </a:prstGeom>
          <a:noFill/>
          <a:ln>
            <a:noFill/>
          </a:ln>
        </p:spPr>
      </p:pic>
      <p:cxnSp>
        <p:nvCxnSpPr>
          <p:cNvPr id="20" name="Google Shape;20;p3"/>
          <p:cNvCxnSpPr/>
          <p:nvPr/>
        </p:nvCxnSpPr>
        <p:spPr>
          <a:xfrm>
            <a:off x="0" y="976750"/>
            <a:ext cx="10942983" cy="0"/>
          </a:xfrm>
          <a:prstGeom prst="straightConnector1">
            <a:avLst/>
          </a:prstGeom>
          <a:noFill/>
          <a:ln w="28575" cap="flat" cmpd="sng">
            <a:solidFill>
              <a:srgbClr val="757070"/>
            </a:solidFill>
            <a:prstDash val="solid"/>
            <a:miter lim="800000"/>
            <a:headEnd type="none" w="sm" len="sm"/>
            <a:tailEnd type="none" w="sm" len="sm"/>
          </a:ln>
        </p:spPr>
      </p:cxnSp>
      <p:sp>
        <p:nvSpPr>
          <p:cNvPr id="21" name="Google Shape;21;p3"/>
          <p:cNvSpPr txBox="1">
            <a:spLocks noGrp="1"/>
          </p:cNvSpPr>
          <p:nvPr>
            <p:ph type="sldNum" idx="12"/>
          </p:nvPr>
        </p:nvSpPr>
        <p:spPr>
          <a:xfrm>
            <a:off x="11684000" y="6464300"/>
            <a:ext cx="508000" cy="3937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ja-JP"/>
              <a:t>‹#›</a:t>
            </a:fld>
            <a:endParaRPr/>
          </a:p>
        </p:txBody>
      </p:sp>
      <p:pic>
        <p:nvPicPr>
          <p:cNvPr id="22" name="Google Shape;22;p3" descr="図形 が含まれている画像&#10;&#10;自動的に生成された説明"/>
          <p:cNvPicPr preferRelativeResize="0"/>
          <p:nvPr/>
        </p:nvPicPr>
        <p:blipFill rotWithShape="1">
          <a:blip r:embed="rId3">
            <a:alphaModFix/>
          </a:blip>
          <a:srcRect/>
          <a:stretch/>
        </p:blipFill>
        <p:spPr>
          <a:xfrm>
            <a:off x="9461241" y="67743"/>
            <a:ext cx="2574860" cy="525331"/>
          </a:xfrm>
          <a:prstGeom prst="rect">
            <a:avLst/>
          </a:prstGeom>
          <a:noFill/>
          <a:ln>
            <a:noFill/>
          </a:ln>
        </p:spPr>
      </p:pic>
      <p:sp>
        <p:nvSpPr>
          <p:cNvPr id="2" name="Google Shape;18;p3">
            <a:extLst>
              <a:ext uri="{FF2B5EF4-FFF2-40B4-BE49-F238E27FC236}">
                <a16:creationId xmlns:a16="http://schemas.microsoft.com/office/drawing/2014/main" id="{03471241-4B00-437F-2362-C21CF1A43576}"/>
              </a:ext>
            </a:extLst>
          </p:cNvPr>
          <p:cNvSpPr txBox="1">
            <a:spLocks noGrp="1"/>
          </p:cNvSpPr>
          <p:nvPr>
            <p:ph type="body" idx="13"/>
          </p:nvPr>
        </p:nvSpPr>
        <p:spPr>
          <a:xfrm>
            <a:off x="427383" y="1237931"/>
            <a:ext cx="10515600" cy="711064"/>
          </a:xfrm>
          <a:prstGeom prst="rect">
            <a:avLst/>
          </a:prstGeom>
          <a:noFill/>
          <a:ln>
            <a:noFill/>
          </a:ln>
        </p:spPr>
        <p:txBody>
          <a:bodyPr spcFirstLastPara="1" wrap="square" lIns="91425" tIns="45700" rIns="91425" bIns="45700" anchor="t" anchorCtr="0">
            <a:normAutofit/>
          </a:bodyPr>
          <a:lstStyle>
            <a:lvl1pPr marL="114300" lvl="0" indent="0" algn="l">
              <a:lnSpc>
                <a:spcPct val="90000"/>
              </a:lnSpc>
              <a:spcBef>
                <a:spcPts val="1000"/>
              </a:spcBef>
              <a:spcAft>
                <a:spcPts val="0"/>
              </a:spcAft>
              <a:buClr>
                <a:schemeClr val="dk1"/>
              </a:buClr>
              <a:buSzPts val="1800"/>
              <a:buNone/>
              <a:defRPr>
                <a:solidFill>
                  <a:srgbClr val="EA9010"/>
                </a:solidFill>
                <a:latin typeface="A P-OTF ゴシックMB101 Pr6N B" panose="020B0700000000000000" pitchFamily="34" charset="-128"/>
                <a:ea typeface="A P-OTF ゴシックMB101 Pr6N B" panose="020B0700000000000000" pitchFamily="34" charset="-128"/>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3" name="Google Shape;17;p3">
            <a:extLst>
              <a:ext uri="{FF2B5EF4-FFF2-40B4-BE49-F238E27FC236}">
                <a16:creationId xmlns:a16="http://schemas.microsoft.com/office/drawing/2014/main" id="{2F01FF8B-2636-C78B-0F7A-CDAB5E169B1E}"/>
              </a:ext>
            </a:extLst>
          </p:cNvPr>
          <p:cNvSpPr txBox="1">
            <a:spLocks noGrp="1"/>
          </p:cNvSpPr>
          <p:nvPr>
            <p:ph type="title"/>
          </p:nvPr>
        </p:nvSpPr>
        <p:spPr>
          <a:xfrm>
            <a:off x="427383" y="266699"/>
            <a:ext cx="8844804" cy="75545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Calibri"/>
              <a:buNone/>
              <a:defRPr sz="4000" b="1" i="0">
                <a:solidFill>
                  <a:srgbClr val="37371F"/>
                </a:solidFill>
                <a:latin typeface="A P-OTF Gothic MB101 Pr6N B" panose="020B0400000000000000" pitchFamily="34" charset="-128"/>
                <a:ea typeface="A P-OTF Gothic MB101 Pr6N B" panose="020B0400000000000000" pitchFamily="34" charset="-128"/>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1976050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とコンテンツ" preserve="1" userDrawn="1">
  <p:cSld name="1_タイトルとコンテンツ">
    <p:spTree>
      <p:nvGrpSpPr>
        <p:cNvPr id="1" name="Shape 16"/>
        <p:cNvGrpSpPr/>
        <p:nvPr/>
      </p:nvGrpSpPr>
      <p:grpSpPr>
        <a:xfrm>
          <a:off x="0" y="0"/>
          <a:ext cx="0" cy="0"/>
          <a:chOff x="0" y="0"/>
          <a:chExt cx="0" cy="0"/>
        </a:xfrm>
      </p:grpSpPr>
      <p:sp>
        <p:nvSpPr>
          <p:cNvPr id="18" name="Google Shape;18;p3"/>
          <p:cNvSpPr txBox="1">
            <a:spLocks noGrp="1"/>
          </p:cNvSpPr>
          <p:nvPr>
            <p:ph type="body" idx="1"/>
          </p:nvPr>
        </p:nvSpPr>
        <p:spPr>
          <a:xfrm>
            <a:off x="427383" y="1948996"/>
            <a:ext cx="10515600" cy="19626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rgbClr val="37371F"/>
                </a:solidFill>
                <a:latin typeface="A-OTF Gothic BBB Pr6N Medium" panose="020B0400000000000000" pitchFamily="34" charset="-128"/>
                <a:ea typeface="A-OTF Gothic BBB Pr6N Medium" panose="020B0400000000000000" pitchFamily="34" charset="-128"/>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pic>
        <p:nvPicPr>
          <p:cNvPr id="19" name="Google Shape;19;p3"/>
          <p:cNvPicPr preferRelativeResize="0"/>
          <p:nvPr/>
        </p:nvPicPr>
        <p:blipFill rotWithShape="1">
          <a:blip r:embed="rId2">
            <a:alphaModFix/>
          </a:blip>
          <a:srcRect/>
          <a:stretch/>
        </p:blipFill>
        <p:spPr>
          <a:xfrm rot="5400000">
            <a:off x="11096079" y="228375"/>
            <a:ext cx="338396" cy="1499355"/>
          </a:xfrm>
          <a:prstGeom prst="rect">
            <a:avLst/>
          </a:prstGeom>
          <a:noFill/>
          <a:ln>
            <a:noFill/>
          </a:ln>
        </p:spPr>
      </p:pic>
      <p:cxnSp>
        <p:nvCxnSpPr>
          <p:cNvPr id="20" name="Google Shape;20;p3"/>
          <p:cNvCxnSpPr/>
          <p:nvPr/>
        </p:nvCxnSpPr>
        <p:spPr>
          <a:xfrm>
            <a:off x="0" y="976750"/>
            <a:ext cx="10942983" cy="0"/>
          </a:xfrm>
          <a:prstGeom prst="straightConnector1">
            <a:avLst/>
          </a:prstGeom>
          <a:noFill/>
          <a:ln w="28575" cap="flat" cmpd="sng">
            <a:solidFill>
              <a:srgbClr val="757070"/>
            </a:solidFill>
            <a:prstDash val="solid"/>
            <a:miter lim="800000"/>
            <a:headEnd type="none" w="sm" len="sm"/>
            <a:tailEnd type="none" w="sm" len="sm"/>
          </a:ln>
        </p:spPr>
      </p:cxnSp>
      <p:sp>
        <p:nvSpPr>
          <p:cNvPr id="21" name="Google Shape;21;p3"/>
          <p:cNvSpPr txBox="1">
            <a:spLocks noGrp="1"/>
          </p:cNvSpPr>
          <p:nvPr>
            <p:ph type="sldNum" idx="12"/>
          </p:nvPr>
        </p:nvSpPr>
        <p:spPr>
          <a:xfrm>
            <a:off x="11684000" y="6464300"/>
            <a:ext cx="508000" cy="3937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ja-JP"/>
              <a:t>‹#›</a:t>
            </a:fld>
            <a:endParaRPr/>
          </a:p>
        </p:txBody>
      </p:sp>
      <p:pic>
        <p:nvPicPr>
          <p:cNvPr id="22" name="Google Shape;22;p3" descr="図形 が含まれている画像&#10;&#10;自動的に生成された説明"/>
          <p:cNvPicPr preferRelativeResize="0"/>
          <p:nvPr/>
        </p:nvPicPr>
        <p:blipFill rotWithShape="1">
          <a:blip r:embed="rId3">
            <a:alphaModFix/>
          </a:blip>
          <a:srcRect/>
          <a:stretch/>
        </p:blipFill>
        <p:spPr>
          <a:xfrm>
            <a:off x="9461241" y="67743"/>
            <a:ext cx="2574860" cy="525331"/>
          </a:xfrm>
          <a:prstGeom prst="rect">
            <a:avLst/>
          </a:prstGeom>
          <a:noFill/>
          <a:ln>
            <a:noFill/>
          </a:ln>
        </p:spPr>
      </p:pic>
      <p:sp>
        <p:nvSpPr>
          <p:cNvPr id="2" name="Google Shape;18;p3">
            <a:extLst>
              <a:ext uri="{FF2B5EF4-FFF2-40B4-BE49-F238E27FC236}">
                <a16:creationId xmlns:a16="http://schemas.microsoft.com/office/drawing/2014/main" id="{03471241-4B00-437F-2362-C21CF1A43576}"/>
              </a:ext>
            </a:extLst>
          </p:cNvPr>
          <p:cNvSpPr txBox="1">
            <a:spLocks noGrp="1"/>
          </p:cNvSpPr>
          <p:nvPr>
            <p:ph type="body" idx="13" hasCustomPrompt="1"/>
          </p:nvPr>
        </p:nvSpPr>
        <p:spPr>
          <a:xfrm>
            <a:off x="427383" y="1237931"/>
            <a:ext cx="10515600" cy="711064"/>
          </a:xfrm>
          <a:prstGeom prst="rect">
            <a:avLst/>
          </a:prstGeom>
          <a:noFill/>
          <a:ln>
            <a:noFill/>
          </a:ln>
        </p:spPr>
        <p:txBody>
          <a:bodyPr spcFirstLastPara="1" wrap="square" lIns="91425" tIns="45700" rIns="91425" bIns="45700" anchor="t" anchorCtr="0">
            <a:normAutofit/>
          </a:bodyPr>
          <a:lstStyle>
            <a:lvl1pPr marL="114300" lvl="0" indent="0" algn="l">
              <a:lnSpc>
                <a:spcPct val="90000"/>
              </a:lnSpc>
              <a:spcBef>
                <a:spcPts val="1000"/>
              </a:spcBef>
              <a:spcAft>
                <a:spcPts val="0"/>
              </a:spcAft>
              <a:buClr>
                <a:schemeClr val="dk1"/>
              </a:buClr>
              <a:buSzPts val="1800"/>
              <a:buNone/>
              <a:defRPr>
                <a:solidFill>
                  <a:srgbClr val="EA9010"/>
                </a:solidFill>
                <a:latin typeface="A P-OTF ゴシックMB101 Pr6N B" panose="020B0700000000000000" pitchFamily="34" charset="-128"/>
                <a:ea typeface="A P-OTF ゴシックMB101 Pr6N B" panose="020B0700000000000000" pitchFamily="34" charset="-128"/>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ja-JP" altLang="en-US" dirty="0"/>
              <a:t>ゴール</a:t>
            </a:r>
            <a:endParaRPr dirty="0"/>
          </a:p>
        </p:txBody>
      </p:sp>
      <p:sp>
        <p:nvSpPr>
          <p:cNvPr id="5" name="Google Shape;18;p3">
            <a:extLst>
              <a:ext uri="{FF2B5EF4-FFF2-40B4-BE49-F238E27FC236}">
                <a16:creationId xmlns:a16="http://schemas.microsoft.com/office/drawing/2014/main" id="{40F2E6E9-22CF-8897-A723-79148CB65D9D}"/>
              </a:ext>
            </a:extLst>
          </p:cNvPr>
          <p:cNvSpPr txBox="1">
            <a:spLocks noGrp="1"/>
          </p:cNvSpPr>
          <p:nvPr>
            <p:ph type="body" idx="14"/>
          </p:nvPr>
        </p:nvSpPr>
        <p:spPr>
          <a:xfrm>
            <a:off x="427383" y="4622665"/>
            <a:ext cx="10515600" cy="19626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solidFill>
                  <a:srgbClr val="37371F"/>
                </a:solidFill>
                <a:latin typeface="A-OTF Gothic BBB Pr6N Medium" panose="020B0400000000000000" pitchFamily="34" charset="-128"/>
                <a:ea typeface="A-OTF Gothic BBB Pr6N Medium" panose="020B0400000000000000" pitchFamily="34" charset="-128"/>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6" name="Google Shape;18;p3">
            <a:extLst>
              <a:ext uri="{FF2B5EF4-FFF2-40B4-BE49-F238E27FC236}">
                <a16:creationId xmlns:a16="http://schemas.microsoft.com/office/drawing/2014/main" id="{964C2D8E-C1D5-E2EB-A91B-DBB880A47FF9}"/>
              </a:ext>
            </a:extLst>
          </p:cNvPr>
          <p:cNvSpPr txBox="1">
            <a:spLocks noGrp="1"/>
          </p:cNvSpPr>
          <p:nvPr>
            <p:ph type="body" idx="15" hasCustomPrompt="1"/>
          </p:nvPr>
        </p:nvSpPr>
        <p:spPr>
          <a:xfrm>
            <a:off x="427383" y="3911600"/>
            <a:ext cx="10515600" cy="711064"/>
          </a:xfrm>
          <a:prstGeom prst="rect">
            <a:avLst/>
          </a:prstGeom>
          <a:noFill/>
          <a:ln>
            <a:noFill/>
          </a:ln>
        </p:spPr>
        <p:txBody>
          <a:bodyPr spcFirstLastPara="1" wrap="square" lIns="91425" tIns="45700" rIns="91425" bIns="45700" anchor="t" anchorCtr="0">
            <a:normAutofit/>
          </a:bodyPr>
          <a:lstStyle>
            <a:lvl1pPr marL="114300" lvl="0" indent="0" algn="l">
              <a:lnSpc>
                <a:spcPct val="90000"/>
              </a:lnSpc>
              <a:spcBef>
                <a:spcPts val="1000"/>
              </a:spcBef>
              <a:spcAft>
                <a:spcPts val="0"/>
              </a:spcAft>
              <a:buClr>
                <a:schemeClr val="dk1"/>
              </a:buClr>
              <a:buSzPts val="1800"/>
              <a:buNone/>
              <a:defRPr>
                <a:solidFill>
                  <a:srgbClr val="90BE6D"/>
                </a:solidFill>
                <a:latin typeface="A P-OTF ゴシックMB101 Pr6N B" panose="020B0700000000000000" pitchFamily="34" charset="-128"/>
                <a:ea typeface="A P-OTF ゴシックMB101 Pr6N B" panose="020B0700000000000000" pitchFamily="34" charset="-128"/>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ja-JP" altLang="en-US" dirty="0"/>
              <a:t>ヒント</a:t>
            </a:r>
            <a:endParaRPr dirty="0"/>
          </a:p>
        </p:txBody>
      </p:sp>
      <p:sp>
        <p:nvSpPr>
          <p:cNvPr id="7" name="Google Shape;17;p3">
            <a:extLst>
              <a:ext uri="{FF2B5EF4-FFF2-40B4-BE49-F238E27FC236}">
                <a16:creationId xmlns:a16="http://schemas.microsoft.com/office/drawing/2014/main" id="{3A3DB0A2-8CED-0A3C-C35B-D89F2E37E547}"/>
              </a:ext>
            </a:extLst>
          </p:cNvPr>
          <p:cNvSpPr txBox="1">
            <a:spLocks noGrp="1"/>
          </p:cNvSpPr>
          <p:nvPr>
            <p:ph type="title"/>
          </p:nvPr>
        </p:nvSpPr>
        <p:spPr>
          <a:xfrm>
            <a:off x="427383" y="266699"/>
            <a:ext cx="8844804" cy="75545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Calibri"/>
              <a:buNone/>
              <a:defRPr sz="4000" b="1" i="0">
                <a:solidFill>
                  <a:srgbClr val="37371F"/>
                </a:solidFill>
                <a:latin typeface="A P-OTF Gothic MB101 Pr6N B" panose="020B0400000000000000" pitchFamily="34" charset="-128"/>
                <a:ea typeface="A P-OTF Gothic MB101 Pr6N B" panose="020B0400000000000000" pitchFamily="34" charset="-128"/>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extLst>
      <p:ext uri="{BB962C8B-B14F-4D97-AF65-F5344CB8AC3E}">
        <p14:creationId xmlns:p14="http://schemas.microsoft.com/office/powerpoint/2010/main" val="966666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1461077"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b="1" i="0">
                <a:solidFill>
                  <a:srgbClr val="37371F"/>
                </a:solidFill>
                <a:latin typeface="A P-OTF Gothic MB101 Pr6N B" panose="020B0400000000000000" pitchFamily="34" charset="-128"/>
                <a:ea typeface="A P-OTF Gothic MB101 Pr6N B" panose="020B0400000000000000" pitchFamily="34" charset="-128"/>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
          <p:cNvSpPr txBox="1">
            <a:spLocks noGrp="1"/>
          </p:cNvSpPr>
          <p:nvPr>
            <p:ph type="body" idx="1"/>
          </p:nvPr>
        </p:nvSpPr>
        <p:spPr>
          <a:xfrm>
            <a:off x="831850" y="4786017"/>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6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ja-JP"/>
              <a:t>‹#›</a:t>
            </a:fld>
            <a:endParaRPr/>
          </a:p>
        </p:txBody>
      </p:sp>
      <p:pic>
        <p:nvPicPr>
          <p:cNvPr id="29" name="Google Shape;29;p4"/>
          <p:cNvPicPr preferRelativeResize="0"/>
          <p:nvPr/>
        </p:nvPicPr>
        <p:blipFill rotWithShape="1">
          <a:blip r:embed="rId2">
            <a:alphaModFix/>
          </a:blip>
          <a:srcRect/>
          <a:stretch/>
        </p:blipFill>
        <p:spPr>
          <a:xfrm rot="5400000">
            <a:off x="11178251" y="3826292"/>
            <a:ext cx="338396" cy="1499355"/>
          </a:xfrm>
          <a:prstGeom prst="rect">
            <a:avLst/>
          </a:prstGeom>
          <a:noFill/>
          <a:ln>
            <a:noFill/>
          </a:ln>
        </p:spPr>
      </p:pic>
      <p:cxnSp>
        <p:nvCxnSpPr>
          <p:cNvPr id="30" name="Google Shape;30;p4"/>
          <p:cNvCxnSpPr/>
          <p:nvPr/>
        </p:nvCxnSpPr>
        <p:spPr>
          <a:xfrm>
            <a:off x="82172" y="4574667"/>
            <a:ext cx="10942983" cy="0"/>
          </a:xfrm>
          <a:prstGeom prst="straightConnector1">
            <a:avLst/>
          </a:prstGeom>
          <a:noFill/>
          <a:ln w="28575" cap="flat" cmpd="sng">
            <a:solidFill>
              <a:srgbClr val="757070"/>
            </a:solidFill>
            <a:prstDash val="solid"/>
            <a:miter lim="800000"/>
            <a:headEnd type="none" w="sm" len="sm"/>
            <a:tailEnd type="none" w="sm" len="sm"/>
          </a:ln>
        </p:spPr>
      </p:cxnSp>
      <p:pic>
        <p:nvPicPr>
          <p:cNvPr id="31" name="Google Shape;31;p4" descr="図形&#10;&#10;中程度の精度で自動的に生成された説明"/>
          <p:cNvPicPr preferRelativeResize="0"/>
          <p:nvPr/>
        </p:nvPicPr>
        <p:blipFill rotWithShape="1">
          <a:blip r:embed="rId3">
            <a:alphaModFix/>
          </a:blip>
          <a:srcRect/>
          <a:stretch/>
        </p:blipFill>
        <p:spPr>
          <a:xfrm>
            <a:off x="8621351" y="354431"/>
            <a:ext cx="3314700" cy="676275"/>
          </a:xfrm>
          <a:prstGeom prst="rect">
            <a:avLst/>
          </a:prstGeom>
          <a:noFill/>
          <a:ln>
            <a:noFill/>
          </a:ln>
        </p:spPr>
      </p:pic>
      <p:pic>
        <p:nvPicPr>
          <p:cNvPr id="32" name="Google Shape;32;p4" descr="アイコン&#10;&#10;自動的に生成された説明"/>
          <p:cNvPicPr preferRelativeResize="0"/>
          <p:nvPr/>
        </p:nvPicPr>
        <p:blipFill rotWithShape="1">
          <a:blip r:embed="rId4">
            <a:alphaModFix/>
          </a:blip>
          <a:srcRect/>
          <a:stretch/>
        </p:blipFill>
        <p:spPr>
          <a:xfrm>
            <a:off x="7224158" y="172649"/>
            <a:ext cx="1397193" cy="1039837"/>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userDrawn="1">
  <p:cSld name="タイトルのみ">
    <p:spTree>
      <p:nvGrpSpPr>
        <p:cNvPr id="1" name="Shape 55"/>
        <p:cNvGrpSpPr/>
        <p:nvPr/>
      </p:nvGrpSpPr>
      <p:grpSpPr>
        <a:xfrm>
          <a:off x="0" y="0"/>
          <a:ext cx="0" cy="0"/>
          <a:chOff x="0" y="0"/>
          <a:chExt cx="0" cy="0"/>
        </a:xfrm>
      </p:grpSpPr>
      <p:sp>
        <p:nvSpPr>
          <p:cNvPr id="56" name="Google Shape;5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ja-JP"/>
              <a:t>‹#›</a:t>
            </a:fld>
            <a:endParaRPr/>
          </a:p>
        </p:txBody>
      </p:sp>
      <p:pic>
        <p:nvPicPr>
          <p:cNvPr id="59" name="Google Shape;59;p7"/>
          <p:cNvPicPr preferRelativeResize="0"/>
          <p:nvPr/>
        </p:nvPicPr>
        <p:blipFill rotWithShape="1">
          <a:blip r:embed="rId2">
            <a:alphaModFix/>
          </a:blip>
          <a:srcRect/>
          <a:stretch/>
        </p:blipFill>
        <p:spPr>
          <a:xfrm rot="5400000">
            <a:off x="11096079" y="228375"/>
            <a:ext cx="338396" cy="1499355"/>
          </a:xfrm>
          <a:prstGeom prst="rect">
            <a:avLst/>
          </a:prstGeom>
          <a:noFill/>
          <a:ln>
            <a:noFill/>
          </a:ln>
        </p:spPr>
      </p:pic>
      <p:cxnSp>
        <p:nvCxnSpPr>
          <p:cNvPr id="60" name="Google Shape;60;p7"/>
          <p:cNvCxnSpPr/>
          <p:nvPr/>
        </p:nvCxnSpPr>
        <p:spPr>
          <a:xfrm>
            <a:off x="0" y="976750"/>
            <a:ext cx="10942983" cy="0"/>
          </a:xfrm>
          <a:prstGeom prst="straightConnector1">
            <a:avLst/>
          </a:prstGeom>
          <a:noFill/>
          <a:ln w="28575" cap="flat" cmpd="sng">
            <a:solidFill>
              <a:srgbClr val="757070"/>
            </a:solidFill>
            <a:prstDash val="solid"/>
            <a:miter lim="800000"/>
            <a:headEnd type="none" w="sm" len="sm"/>
            <a:tailEnd type="none" w="sm" len="sm"/>
          </a:ln>
        </p:spPr>
      </p:cxnSp>
      <p:pic>
        <p:nvPicPr>
          <p:cNvPr id="61" name="Google Shape;61;p7" descr="図形 が含まれている画像&#10;&#10;自動的に生成された説明"/>
          <p:cNvPicPr preferRelativeResize="0"/>
          <p:nvPr/>
        </p:nvPicPr>
        <p:blipFill rotWithShape="1">
          <a:blip r:embed="rId3">
            <a:alphaModFix/>
          </a:blip>
          <a:srcRect/>
          <a:stretch/>
        </p:blipFill>
        <p:spPr>
          <a:xfrm>
            <a:off x="9461241" y="67743"/>
            <a:ext cx="2574860" cy="525331"/>
          </a:xfrm>
          <a:prstGeom prst="rect">
            <a:avLst/>
          </a:prstGeom>
          <a:noFill/>
          <a:ln>
            <a:noFill/>
          </a:ln>
        </p:spPr>
      </p:pic>
      <p:sp>
        <p:nvSpPr>
          <p:cNvPr id="2" name="Google Shape;17;p3">
            <a:extLst>
              <a:ext uri="{FF2B5EF4-FFF2-40B4-BE49-F238E27FC236}">
                <a16:creationId xmlns:a16="http://schemas.microsoft.com/office/drawing/2014/main" id="{7574BFDF-10C9-66A4-D13C-67F8649A0ADE}"/>
              </a:ext>
            </a:extLst>
          </p:cNvPr>
          <p:cNvSpPr txBox="1">
            <a:spLocks noGrp="1"/>
          </p:cNvSpPr>
          <p:nvPr>
            <p:ph type="title"/>
          </p:nvPr>
        </p:nvSpPr>
        <p:spPr>
          <a:xfrm>
            <a:off x="427383" y="266699"/>
            <a:ext cx="8844804" cy="75545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4000"/>
              <a:buFont typeface="Calibri"/>
              <a:buNone/>
              <a:defRPr sz="4000" b="1" i="0">
                <a:solidFill>
                  <a:srgbClr val="37371F"/>
                </a:solidFill>
                <a:latin typeface="A P-OTF Gothic MB101 Pr6N B" panose="020B0400000000000000" pitchFamily="34" charset="-128"/>
                <a:ea typeface="A P-OTF Gothic MB101 Pr6N B" panose="020B0400000000000000" pitchFamily="34" charset="-128"/>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63"/>
        <p:cNvGrpSpPr/>
        <p:nvPr/>
      </p:nvGrpSpPr>
      <p:grpSpPr>
        <a:xfrm>
          <a:off x="0" y="0"/>
          <a:ext cx="0" cy="0"/>
          <a:chOff x="0" y="0"/>
          <a:chExt cx="0" cy="0"/>
        </a:xfrm>
      </p:grpSpPr>
      <p:sp>
        <p:nvSpPr>
          <p:cNvPr id="64" name="Google Shape;6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ja-JP"/>
              <a:t>‹#›</a:t>
            </a:fld>
            <a:endParaRPr/>
          </a:p>
        </p:txBody>
      </p:sp>
      <p:pic>
        <p:nvPicPr>
          <p:cNvPr id="67" name="Google Shape;67;p8" descr="図形 が含まれている画像&#10;&#10;自動的に生成された説明"/>
          <p:cNvPicPr preferRelativeResize="0"/>
          <p:nvPr/>
        </p:nvPicPr>
        <p:blipFill rotWithShape="1">
          <a:blip r:embed="rId2">
            <a:alphaModFix/>
          </a:blip>
          <a:srcRect/>
          <a:stretch/>
        </p:blipFill>
        <p:spPr>
          <a:xfrm>
            <a:off x="9461241" y="67743"/>
            <a:ext cx="2574860" cy="52533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6" r:id="rId3"/>
    <p:sldLayoutId id="2147483657" r:id="rId4"/>
    <p:sldLayoutId id="2147483650" r:id="rId5"/>
    <p:sldLayoutId id="2147483653" r:id="rId6"/>
    <p:sldLayoutId id="214748365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1" i="0" u="none" strike="noStrike" cap="none">
          <a:solidFill>
            <a:srgbClr val="000000"/>
          </a:solidFill>
          <a:latin typeface="A P-OTF Gothic MB101 Pr6N B" panose="020B0400000000000000" pitchFamily="34" charset="-128"/>
          <a:ea typeface="A P-OTF Gothic MB101 Pr6N B" panose="020B0400000000000000" pitchFamily="34"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308https:/github.com/CREATE-ROCKET/Avi_Freshers_Welcome_Event_2026/tree/master9/shinkan" TargetMode="External"/><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code.visualstudio.com/" TargetMode="Externa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hyperlink" Target="https://www602.math.ryukoku.ac.jp/Prog1/vscode-win.html"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
        <p:cNvGrpSpPr/>
        <p:nvPr/>
      </p:nvGrpSpPr>
      <p:grpSpPr>
        <a:xfrm>
          <a:off x="0" y="0"/>
          <a:ext cx="0" cy="0"/>
          <a:chOff x="0" y="0"/>
          <a:chExt cx="0" cy="0"/>
        </a:xfrm>
      </p:grpSpPr>
      <p:sp>
        <p:nvSpPr>
          <p:cNvPr id="72" name="Google Shape;72;p9"/>
          <p:cNvSpPr txBox="1">
            <a:spLocks noGrp="1"/>
          </p:cNvSpPr>
          <p:nvPr>
            <p:ph type="ctrTitle"/>
          </p:nvPr>
        </p:nvSpPr>
        <p:spPr>
          <a:xfrm>
            <a:off x="1141466" y="1122363"/>
            <a:ext cx="9909068" cy="2387600"/>
          </a:xfrm>
          <a:noFill/>
          <a:ln>
            <a:noFill/>
          </a:ln>
        </p:spPr>
        <p:txBody>
          <a:bodyPr spcFirstLastPara="1" wrap="square" lIns="91425" tIns="45700" rIns="91425" bIns="45700" anchor="b" anchorCtr="0">
            <a:normAutofit fontScale="90000"/>
          </a:bodyPr>
          <a:lstStyle/>
          <a:p>
            <a:pPr lvl="0"/>
            <a:r>
              <a:rPr lang="ja-JP" altLang="en-US" dirty="0">
                <a:sym typeface="Calibri"/>
              </a:rPr>
              <a:t>電装班新歓</a:t>
            </a:r>
            <a:br>
              <a:rPr lang="ja-JP" altLang="en-US" dirty="0">
                <a:sym typeface="Calibri"/>
              </a:rPr>
            </a:br>
            <a:r>
              <a:rPr lang="en-US" altLang="ja-JP" dirty="0">
                <a:sym typeface="Calibri"/>
              </a:rPr>
              <a:t>-LED</a:t>
            </a:r>
            <a:r>
              <a:rPr lang="ja-JP" altLang="en-US" dirty="0">
                <a:sym typeface="Calibri"/>
              </a:rPr>
              <a:t>をピカピカ光らせよう！</a:t>
            </a:r>
            <a:r>
              <a:rPr lang="en-US" altLang="ja-JP" dirty="0">
                <a:sym typeface="Calibri"/>
              </a:rPr>
              <a:t>-</a:t>
            </a:r>
            <a:endParaRPr lang="ja-JP" altLang="en-US" dirty="0">
              <a:sym typeface="Calibri"/>
            </a:endParaRPr>
          </a:p>
        </p:txBody>
      </p:sp>
      <p:sp>
        <p:nvSpPr>
          <p:cNvPr id="73" name="Google Shape;73;p9"/>
          <p:cNvSpPr txBox="1"/>
          <p:nvPr/>
        </p:nvSpPr>
        <p:spPr>
          <a:xfrm>
            <a:off x="8189843" y="5774392"/>
            <a:ext cx="4002157" cy="95406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ja-JP" sz="2800" dirty="0">
                <a:solidFill>
                  <a:schemeClr val="dk1"/>
                </a:solidFill>
                <a:latin typeface="A-OTF 中ゴシックBBB Pr6N Med" panose="020B0400000000000000" pitchFamily="34" charset="-128"/>
                <a:ea typeface="A-OTF 中ゴシックBBB Pr6N Med" panose="020B0400000000000000" pitchFamily="34" charset="-128"/>
                <a:cs typeface="Calibri"/>
                <a:sym typeface="Calibri"/>
              </a:rPr>
              <a:t>作成：</a:t>
            </a:r>
            <a:r>
              <a:rPr lang="ja-JP" altLang="en-US" sz="2800" dirty="0">
                <a:solidFill>
                  <a:schemeClr val="dk1"/>
                </a:solidFill>
                <a:latin typeface="A-OTF 中ゴシックBBB Pr6N Med" panose="020B0400000000000000" pitchFamily="34" charset="-128"/>
                <a:ea typeface="A-OTF 中ゴシックBBB Pr6N Med" panose="020B0400000000000000" pitchFamily="34" charset="-128"/>
                <a:cs typeface="Calibri"/>
                <a:sym typeface="Calibri"/>
              </a:rPr>
              <a:t>内田和深</a:t>
            </a:r>
            <a:r>
              <a:rPr lang="ja-JP" sz="2800" dirty="0">
                <a:solidFill>
                  <a:schemeClr val="dk1"/>
                </a:solidFill>
                <a:latin typeface="A-OTF 中ゴシックBBB Pr6N Med" panose="020B0400000000000000" pitchFamily="34" charset="-128"/>
                <a:ea typeface="A-OTF 中ゴシックBBB Pr6N Med" panose="020B0400000000000000" pitchFamily="34" charset="-128"/>
                <a:cs typeface="Calibri"/>
                <a:sym typeface="Calibri"/>
              </a:rPr>
              <a:t>（</a:t>
            </a:r>
            <a:r>
              <a:rPr lang="en-US" altLang="ja-JP" sz="2800" dirty="0">
                <a:solidFill>
                  <a:schemeClr val="dk1"/>
                </a:solidFill>
                <a:latin typeface="A-OTF 中ゴシックBBB Pr6N Med" panose="020B0400000000000000" pitchFamily="34" charset="-128"/>
                <a:ea typeface="A-OTF 中ゴシックBBB Pr6N Med" panose="020B0400000000000000" pitchFamily="34" charset="-128"/>
                <a:cs typeface="Calibri"/>
                <a:sym typeface="Calibri"/>
              </a:rPr>
              <a:t>25</a:t>
            </a:r>
            <a:r>
              <a:rPr lang="ja-JP" sz="2800" dirty="0">
                <a:solidFill>
                  <a:schemeClr val="dk1"/>
                </a:solidFill>
                <a:latin typeface="A-OTF 中ゴシックBBB Pr6N Med" panose="020B0400000000000000" pitchFamily="34" charset="-128"/>
                <a:ea typeface="A-OTF 中ゴシックBBB Pr6N Med" panose="020B0400000000000000" pitchFamily="34" charset="-128"/>
                <a:cs typeface="Calibri"/>
                <a:sym typeface="Calibri"/>
              </a:rPr>
              <a:t>）</a:t>
            </a:r>
            <a:endParaRPr sz="2800" dirty="0">
              <a:solidFill>
                <a:schemeClr val="dk1"/>
              </a:solidFill>
              <a:latin typeface="A-OTF 中ゴシックBBB Pr6N Med" panose="020B0400000000000000" pitchFamily="34" charset="-128"/>
              <a:ea typeface="A-OTF 中ゴシックBBB Pr6N Med" panose="020B0400000000000000" pitchFamily="34" charset="-128"/>
              <a:cs typeface="Calibri"/>
              <a:sym typeface="Calibri"/>
            </a:endParaRPr>
          </a:p>
          <a:p>
            <a:pPr marL="0" marR="0" lvl="0" indent="0" algn="l" rtl="0">
              <a:spcBef>
                <a:spcPts val="0"/>
              </a:spcBef>
              <a:spcAft>
                <a:spcPts val="0"/>
              </a:spcAft>
              <a:buNone/>
            </a:pPr>
            <a:r>
              <a:rPr lang="ja-JP" sz="2800" dirty="0">
                <a:solidFill>
                  <a:schemeClr val="dk1"/>
                </a:solidFill>
                <a:latin typeface="A-OTF 中ゴシックBBB Pr6N Med" panose="020B0400000000000000" pitchFamily="34" charset="-128"/>
                <a:ea typeface="A-OTF 中ゴシックBBB Pr6N Med" panose="020B0400000000000000" pitchFamily="34" charset="-128"/>
                <a:cs typeface="Calibri"/>
                <a:sym typeface="Calibri"/>
              </a:rPr>
              <a:t>担当：</a:t>
            </a:r>
            <a:r>
              <a:rPr lang="ja-JP" altLang="en-US" sz="2800" dirty="0">
                <a:solidFill>
                  <a:schemeClr val="dk1"/>
                </a:solidFill>
                <a:latin typeface="A-OTF 中ゴシックBBB Pr6N Med" panose="020B0400000000000000" pitchFamily="34" charset="-128"/>
                <a:ea typeface="A-OTF 中ゴシックBBB Pr6N Med" panose="020B0400000000000000" pitchFamily="34" charset="-128"/>
                <a:cs typeface="Calibri"/>
                <a:sym typeface="Calibri"/>
              </a:rPr>
              <a:t>水谷新吾</a:t>
            </a:r>
            <a:r>
              <a:rPr lang="ja-JP" sz="2800" dirty="0">
                <a:solidFill>
                  <a:schemeClr val="dk1"/>
                </a:solidFill>
                <a:latin typeface="A-OTF 中ゴシックBBB Pr6N Med" panose="020B0400000000000000" pitchFamily="34" charset="-128"/>
                <a:ea typeface="A-OTF 中ゴシックBBB Pr6N Med" panose="020B0400000000000000" pitchFamily="34" charset="-128"/>
                <a:cs typeface="Calibri"/>
                <a:sym typeface="Calibri"/>
              </a:rPr>
              <a:t>（</a:t>
            </a:r>
            <a:r>
              <a:rPr lang="en-US" altLang="ja-JP" sz="2800" dirty="0">
                <a:solidFill>
                  <a:schemeClr val="dk1"/>
                </a:solidFill>
                <a:latin typeface="A-OTF 中ゴシックBBB Pr6N Med" panose="020B0400000000000000" pitchFamily="34" charset="-128"/>
                <a:ea typeface="A-OTF 中ゴシックBBB Pr6N Med" panose="020B0400000000000000" pitchFamily="34" charset="-128"/>
                <a:cs typeface="Calibri"/>
                <a:sym typeface="Calibri"/>
              </a:rPr>
              <a:t>25</a:t>
            </a:r>
            <a:r>
              <a:rPr lang="ja-JP" sz="2800" dirty="0">
                <a:solidFill>
                  <a:schemeClr val="dk1"/>
                </a:solidFill>
                <a:latin typeface="A-OTF 中ゴシックBBB Pr6N Med" panose="020B0400000000000000" pitchFamily="34" charset="-128"/>
                <a:ea typeface="A-OTF 中ゴシックBBB Pr6N Med" panose="020B0400000000000000" pitchFamily="34" charset="-128"/>
                <a:cs typeface="Calibri"/>
                <a:sym typeface="Calibri"/>
              </a:rPr>
              <a:t>）</a:t>
            </a:r>
            <a:endParaRPr dirty="0">
              <a:latin typeface="A-OTF 中ゴシックBBB Pr6N Med" panose="020B0400000000000000" pitchFamily="34" charset="-128"/>
              <a:ea typeface="A-OTF 中ゴシックBBB Pr6N Med" panose="020B0400000000000000"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0"/>
          <p:cNvSpPr txBox="1">
            <a:spLocks noGrp="1"/>
          </p:cNvSpPr>
          <p:nvPr>
            <p:ph type="title"/>
          </p:nvPr>
        </p:nvSpPr>
        <p:spPr>
          <a:xfrm>
            <a:off x="427383" y="266699"/>
            <a:ext cx="8844804" cy="755451"/>
          </a:xfrm>
          <a:noFill/>
          <a:ln>
            <a:noFill/>
          </a:ln>
        </p:spPr>
        <p:txBody>
          <a:bodyPr spcFirstLastPara="1" wrap="square" lIns="91425" tIns="45700" rIns="91425" bIns="45700" anchor="ctr" anchorCtr="0">
            <a:normAutofit/>
          </a:bodyPr>
          <a:lstStyle/>
          <a:p>
            <a:pPr lvl="0"/>
            <a:r>
              <a:rPr lang="ja-JP" altLang="en-US" dirty="0"/>
              <a:t>本日の流れ</a:t>
            </a:r>
          </a:p>
        </p:txBody>
      </p:sp>
      <p:sp>
        <p:nvSpPr>
          <p:cNvPr id="5" name="テキスト プレースホルダー 4">
            <a:extLst>
              <a:ext uri="{FF2B5EF4-FFF2-40B4-BE49-F238E27FC236}">
                <a16:creationId xmlns:a16="http://schemas.microsoft.com/office/drawing/2014/main" id="{E3B9C085-2C9D-371C-2952-ABEDC36F2AB3}"/>
              </a:ext>
            </a:extLst>
          </p:cNvPr>
          <p:cNvSpPr>
            <a:spLocks noGrp="1"/>
          </p:cNvSpPr>
          <p:nvPr>
            <p:ph type="body" idx="1"/>
          </p:nvPr>
        </p:nvSpPr>
        <p:spPr>
          <a:xfrm>
            <a:off x="427383" y="1487227"/>
            <a:ext cx="10515600" cy="4977071"/>
          </a:xfrm>
        </p:spPr>
        <p:txBody>
          <a:bodyPr/>
          <a:lstStyle/>
          <a:p>
            <a:r>
              <a:rPr lang="ja-JP" altLang="en-US" dirty="0"/>
              <a:t>使う部品の紹介</a:t>
            </a:r>
          </a:p>
          <a:p>
            <a:r>
              <a:rPr lang="ja-JP" altLang="en-US" dirty="0"/>
              <a:t>パソコンで環境構築しよう</a:t>
            </a:r>
          </a:p>
          <a:p>
            <a:r>
              <a:rPr lang="en-US" altLang="ja-JP" dirty="0"/>
              <a:t>LED</a:t>
            </a:r>
            <a:r>
              <a:rPr lang="ja-JP" altLang="en-US" dirty="0"/>
              <a:t>をピカピカ光らせよう</a:t>
            </a:r>
          </a:p>
          <a:p>
            <a:r>
              <a:rPr lang="ja-JP" altLang="en-US" dirty="0"/>
              <a:t>ボタンを使ってみよう</a:t>
            </a:r>
          </a:p>
          <a:p>
            <a:r>
              <a:rPr lang="ja-JP" altLang="en-US" dirty="0"/>
              <a:t>光センサーを使ってみよう</a:t>
            </a:r>
          </a:p>
          <a:p>
            <a:r>
              <a:rPr lang="ja-JP" altLang="en-US" dirty="0"/>
              <a:t>シリアル通信をしてみよう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72438855-A724-17E9-4E7E-1BDDBA5FCA8B}"/>
            </a:ext>
          </a:extLst>
        </p:cNvPr>
        <p:cNvGrpSpPr/>
        <p:nvPr/>
      </p:nvGrpSpPr>
      <p:grpSpPr>
        <a:xfrm>
          <a:off x="0" y="0"/>
          <a:ext cx="0" cy="0"/>
          <a:chOff x="0" y="0"/>
          <a:chExt cx="0" cy="0"/>
        </a:xfrm>
      </p:grpSpPr>
      <p:sp>
        <p:nvSpPr>
          <p:cNvPr id="85" name="Google Shape;85;p11">
            <a:extLst>
              <a:ext uri="{FF2B5EF4-FFF2-40B4-BE49-F238E27FC236}">
                <a16:creationId xmlns:a16="http://schemas.microsoft.com/office/drawing/2014/main" id="{C3BBAACE-B209-F35E-D814-949649EF64B8}"/>
              </a:ext>
            </a:extLst>
          </p:cNvPr>
          <p:cNvSpPr txBox="1">
            <a:spLocks noGrp="1"/>
          </p:cNvSpPr>
          <p:nvPr>
            <p:ph type="title"/>
          </p:nvPr>
        </p:nvSpPr>
        <p:spPr>
          <a:xfrm>
            <a:off x="831850" y="1709738"/>
            <a:ext cx="11461077" cy="2852737"/>
          </a:xfrm>
          <a:noFill/>
          <a:ln>
            <a:noFill/>
          </a:ln>
        </p:spPr>
        <p:txBody>
          <a:bodyPr spcFirstLastPara="1" wrap="square" lIns="91425" tIns="45700" rIns="91425" bIns="45700" anchor="b" anchorCtr="0">
            <a:normAutofit/>
          </a:bodyPr>
          <a:lstStyle/>
          <a:p>
            <a:r>
              <a:rPr lang="en-US" altLang="ja-JP" dirty="0"/>
              <a:t>1</a:t>
            </a:r>
            <a:r>
              <a:rPr lang="en-US" altLang="ja-JP" dirty="0">
                <a:sym typeface="Calibri"/>
              </a:rPr>
              <a:t>. </a:t>
            </a:r>
            <a:r>
              <a:rPr lang="ja-JP" altLang="en-US" dirty="0">
                <a:sym typeface="Calibri"/>
              </a:rPr>
              <a:t>使う部品の紹介</a:t>
            </a:r>
            <a:br>
              <a:rPr lang="ja-JP" altLang="en-US" dirty="0">
                <a:sym typeface="Calibri"/>
              </a:rPr>
            </a:br>
            <a:endParaRPr lang="ja-JP" altLang="en-US" dirty="0"/>
          </a:p>
        </p:txBody>
      </p:sp>
      <p:sp>
        <p:nvSpPr>
          <p:cNvPr id="4" name="テキスト プレースホルダー 3">
            <a:extLst>
              <a:ext uri="{FF2B5EF4-FFF2-40B4-BE49-F238E27FC236}">
                <a16:creationId xmlns:a16="http://schemas.microsoft.com/office/drawing/2014/main" id="{61FDF673-C931-1E85-57A4-82834467A9CB}"/>
              </a:ext>
            </a:extLst>
          </p:cNvPr>
          <p:cNvSpPr>
            <a:spLocks noGrp="1"/>
          </p:cNvSpPr>
          <p:nvPr>
            <p:ph type="body" idx="1"/>
          </p:nvPr>
        </p:nvSpPr>
        <p:spPr/>
        <p:txBody>
          <a:bodyPr/>
          <a:lstStyle/>
          <a:p>
            <a:endParaRPr lang="ja-JP" altLang="en-US"/>
          </a:p>
        </p:txBody>
      </p:sp>
    </p:spTree>
    <p:extLst>
      <p:ext uri="{BB962C8B-B14F-4D97-AF65-F5344CB8AC3E}">
        <p14:creationId xmlns:p14="http://schemas.microsoft.com/office/powerpoint/2010/main" val="2385430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4BF69A-525A-05F2-559D-2C81726376C2}"/>
              </a:ext>
            </a:extLst>
          </p:cNvPr>
          <p:cNvSpPr>
            <a:spLocks noGrp="1"/>
          </p:cNvSpPr>
          <p:nvPr>
            <p:ph type="title"/>
          </p:nvPr>
        </p:nvSpPr>
        <p:spPr>
          <a:xfrm>
            <a:off x="427383" y="266699"/>
            <a:ext cx="8844804" cy="755451"/>
          </a:xfrm>
        </p:spPr>
        <p:txBody>
          <a:bodyPr/>
          <a:lstStyle/>
          <a:p>
            <a:r>
              <a:rPr lang="en-US" altLang="ja-JP" dirty="0"/>
              <a:t>1. </a:t>
            </a:r>
            <a:r>
              <a:rPr lang="ja-JP" altLang="en-US" dirty="0"/>
              <a:t>使う部品の紹介</a:t>
            </a:r>
          </a:p>
        </p:txBody>
      </p:sp>
      <p:pic>
        <p:nvPicPr>
          <p:cNvPr id="9" name="図 8" descr="The image shows a breadboard setup with a circuit board featuring LEDs, resistors, and a microcontroller, with a few wires connecting components and a power supply.&#10;&#10;AI 生成コンテンツは誤りを含む可能性があります。">
            <a:extLst>
              <a:ext uri="{FF2B5EF4-FFF2-40B4-BE49-F238E27FC236}">
                <a16:creationId xmlns:a16="http://schemas.microsoft.com/office/drawing/2014/main" id="{C6F0FC8A-75E3-FD13-EA85-39670918098D}"/>
              </a:ext>
            </a:extLst>
          </p:cNvPr>
          <p:cNvPicPr>
            <a:picLocks noChangeAspect="1"/>
          </p:cNvPicPr>
          <p:nvPr/>
        </p:nvPicPr>
        <p:blipFill>
          <a:blip r:embed="rId2"/>
          <a:stretch>
            <a:fillRect/>
          </a:stretch>
        </p:blipFill>
        <p:spPr>
          <a:xfrm>
            <a:off x="-1" y="1031676"/>
            <a:ext cx="10281037" cy="5785343"/>
          </a:xfrm>
          <a:prstGeom prst="rect">
            <a:avLst/>
          </a:prstGeom>
        </p:spPr>
      </p:pic>
    </p:spTree>
    <p:extLst>
      <p:ext uri="{BB962C8B-B14F-4D97-AF65-F5344CB8AC3E}">
        <p14:creationId xmlns:p14="http://schemas.microsoft.com/office/powerpoint/2010/main" val="781210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a:spLocks noGrp="1"/>
          </p:cNvSpPr>
          <p:nvPr>
            <p:ph type="title"/>
          </p:nvPr>
        </p:nvSpPr>
        <p:spPr>
          <a:xfrm>
            <a:off x="0" y="4505"/>
            <a:ext cx="10515600" cy="1017646"/>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ja-JP" altLang="en-US" dirty="0"/>
              <a:t>ブレッドボード</a:t>
            </a:r>
            <a:endParaRPr dirty="0"/>
          </a:p>
        </p:txBody>
      </p:sp>
      <p:sp>
        <p:nvSpPr>
          <p:cNvPr id="105" name="Google Shape;105;p4"/>
          <p:cNvSpPr txBox="1">
            <a:spLocks noGrp="1"/>
          </p:cNvSpPr>
          <p:nvPr>
            <p:ph type="body" idx="1"/>
          </p:nvPr>
        </p:nvSpPr>
        <p:spPr>
          <a:xfrm>
            <a:off x="380999" y="1550299"/>
            <a:ext cx="10515600" cy="4351338"/>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Clr>
                <a:schemeClr val="dk1"/>
              </a:buClr>
              <a:buSzPts val="2800"/>
              <a:buFont typeface="Arial"/>
              <a:buChar char="•"/>
            </a:pPr>
            <a:r>
              <a:rPr lang="ja-JP" altLang="en-US" dirty="0"/>
              <a:t>ブレッドボード上に回路を作成する</a:t>
            </a:r>
            <a:endParaRPr dirty="0"/>
          </a:p>
        </p:txBody>
      </p:sp>
      <p:sp>
        <p:nvSpPr>
          <p:cNvPr id="106" name="Google Shape;106;p4"/>
          <p:cNvSpPr txBox="1"/>
          <p:nvPr/>
        </p:nvSpPr>
        <p:spPr>
          <a:xfrm>
            <a:off x="3071813" y="5968120"/>
            <a:ext cx="883393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ja-JP" sz="2800" b="0" i="0" u="none" strike="noStrike" cap="none" dirty="0">
                <a:solidFill>
                  <a:schemeClr val="dk1"/>
                </a:solidFill>
                <a:latin typeface="Calibri"/>
                <a:ea typeface="Calibri"/>
                <a:cs typeface="Calibri"/>
                <a:sym typeface="Calibri"/>
              </a:rPr>
              <a:t>線がつながっているところは電気的につながっている。</a:t>
            </a:r>
            <a:endParaRPr sz="2800" dirty="0"/>
          </a:p>
        </p:txBody>
      </p:sp>
      <p:pic>
        <p:nvPicPr>
          <p:cNvPr id="107" name="Google Shape;107;p4"/>
          <p:cNvPicPr preferRelativeResize="0"/>
          <p:nvPr/>
        </p:nvPicPr>
        <p:blipFill rotWithShape="1">
          <a:blip r:embed="rId3">
            <a:alphaModFix/>
          </a:blip>
          <a:srcRect/>
          <a:stretch/>
        </p:blipFill>
        <p:spPr>
          <a:xfrm>
            <a:off x="1326774" y="2765197"/>
            <a:ext cx="8624050" cy="296526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8" name="Google Shape;128;p6"/>
          <p:cNvSpPr txBox="1">
            <a:spLocks noGrp="1"/>
          </p:cNvSpPr>
          <p:nvPr>
            <p:ph type="title"/>
          </p:nvPr>
        </p:nvSpPr>
        <p:spPr>
          <a:xfrm>
            <a:off x="0" y="0"/>
            <a:ext cx="10515600" cy="1017646"/>
          </a:xfrm>
          <a:prstGeom prst="rect">
            <a:avLst/>
          </a:prstGeom>
          <a:noFill/>
          <a:ln>
            <a:noFill/>
          </a:ln>
        </p:spPr>
        <p:txBody>
          <a:bodyPr spcFirstLastPara="1" wrap="square" lIns="91425" tIns="45700" rIns="91425" bIns="45700" anchor="ctr" anchorCtr="0">
            <a:normAutofit/>
          </a:bodyPr>
          <a:lstStyle/>
          <a:p>
            <a:pPr lvl="0"/>
            <a:r>
              <a:rPr lang="ja-JP" dirty="0"/>
              <a:t>マイコンボード（</a:t>
            </a:r>
            <a:r>
              <a:rPr kumimoji="1" lang="en-US" altLang="ja-JP" dirty="0">
                <a:latin typeface="Artifakt Element" panose="020B0503050000020004" pitchFamily="34" charset="0"/>
                <a:ea typeface="A-OTF 中ゴシックBBB Pr6N Med" panose="020B0400000000000000"/>
              </a:rPr>
              <a:t>ESP32-S3-WROOM-1</a:t>
            </a:r>
            <a:r>
              <a:rPr lang="ja-JP" dirty="0"/>
              <a:t>）</a:t>
            </a:r>
            <a:endParaRPr dirty="0"/>
          </a:p>
        </p:txBody>
      </p:sp>
      <p:sp>
        <p:nvSpPr>
          <p:cNvPr id="2" name="テキスト ボックス 1">
            <a:extLst>
              <a:ext uri="{FF2B5EF4-FFF2-40B4-BE49-F238E27FC236}">
                <a16:creationId xmlns:a16="http://schemas.microsoft.com/office/drawing/2014/main" id="{DDEBC8EC-1711-379F-D6C1-8F2FB85FABD6}"/>
              </a:ext>
            </a:extLst>
          </p:cNvPr>
          <p:cNvSpPr txBox="1"/>
          <p:nvPr/>
        </p:nvSpPr>
        <p:spPr>
          <a:xfrm>
            <a:off x="5761104" y="2156541"/>
            <a:ext cx="6430896" cy="1938992"/>
          </a:xfrm>
          <a:prstGeom prst="rect">
            <a:avLst/>
          </a:prstGeom>
          <a:noFill/>
        </p:spPr>
        <p:txBody>
          <a:bodyPr wrap="square" rtlCol="0">
            <a:spAutoFit/>
          </a:bodyPr>
          <a:lstStyle/>
          <a:p>
            <a:r>
              <a:rPr kumimoji="1" lang="ja-JP" altLang="en-US" sz="2400" dirty="0"/>
              <a:t>・プログラムを書き込んで電子部品を制御</a:t>
            </a:r>
            <a:endParaRPr kumimoji="1" lang="en-US" altLang="ja-JP" sz="2400" dirty="0"/>
          </a:p>
          <a:p>
            <a:r>
              <a:rPr kumimoji="1" lang="ja-JP" altLang="en-US" sz="2400" dirty="0"/>
              <a:t>　する、小さなコンピュータ基板</a:t>
            </a:r>
            <a:endParaRPr kumimoji="1" lang="en-US" altLang="ja-JP" sz="2400" dirty="0"/>
          </a:p>
          <a:p>
            <a:endParaRPr kumimoji="1" lang="ja-JP" altLang="en-US" sz="2400" dirty="0"/>
          </a:p>
          <a:p>
            <a:r>
              <a:rPr kumimoji="1" lang="ja-JP" altLang="en-US" sz="2400" dirty="0"/>
              <a:t>・</a:t>
            </a:r>
            <a:r>
              <a:rPr kumimoji="1" lang="en-US" altLang="ja-JP" sz="2400" dirty="0"/>
              <a:t>Micro USB Type-B (UART</a:t>
            </a:r>
            <a:r>
              <a:rPr kumimoji="1" lang="ja-JP" altLang="en-US" sz="2400" dirty="0"/>
              <a:t>ではなく</a:t>
            </a:r>
            <a:r>
              <a:rPr kumimoji="1" lang="en-US" altLang="ja-JP" sz="2400" dirty="0"/>
              <a:t>USB</a:t>
            </a:r>
            <a:r>
              <a:rPr kumimoji="1" lang="ja-JP" altLang="en-US" sz="2400" dirty="0"/>
              <a:t>と</a:t>
            </a:r>
            <a:endParaRPr kumimoji="1" lang="en-US" altLang="ja-JP" sz="2400" dirty="0"/>
          </a:p>
          <a:p>
            <a:r>
              <a:rPr kumimoji="1" lang="ja-JP" altLang="en-US" sz="2400" dirty="0"/>
              <a:t>　書かれている方</a:t>
            </a:r>
            <a:r>
              <a:rPr kumimoji="1" lang="en-US" altLang="ja-JP" sz="2400" dirty="0"/>
              <a:t>) </a:t>
            </a:r>
            <a:r>
              <a:rPr kumimoji="1" lang="ja-JP" altLang="en-US" sz="2400" dirty="0"/>
              <a:t>とパソコンをつなげる</a:t>
            </a:r>
            <a:endParaRPr kumimoji="1" lang="en-US" altLang="ja-JP" sz="2400" dirty="0"/>
          </a:p>
        </p:txBody>
      </p:sp>
      <p:pic>
        <p:nvPicPr>
          <p:cNvPr id="6" name="図 5" descr="The image shows a circuit board with a SAG 25 module, labeled with various pins and connections, including a 3V3 voltage regulator, RST pin, LED, and a RECET module, all mounted on a green circuit board with a white background.&#10;&#10;AI 生成コンテンツは誤りを含む可能性があります。">
            <a:extLst>
              <a:ext uri="{FF2B5EF4-FFF2-40B4-BE49-F238E27FC236}">
                <a16:creationId xmlns:a16="http://schemas.microsoft.com/office/drawing/2014/main" id="{96831A6E-6589-0AB8-5C24-68B9C445E7D0}"/>
              </a:ext>
            </a:extLst>
          </p:cNvPr>
          <p:cNvPicPr>
            <a:picLocks noChangeAspect="1"/>
          </p:cNvPicPr>
          <p:nvPr/>
        </p:nvPicPr>
        <p:blipFill>
          <a:blip r:embed="rId3"/>
          <a:stretch>
            <a:fillRect/>
          </a:stretch>
        </p:blipFill>
        <p:spPr>
          <a:xfrm>
            <a:off x="1771650" y="1990690"/>
            <a:ext cx="2376473" cy="4203700"/>
          </a:xfrm>
          <a:prstGeom prst="rect">
            <a:avLst/>
          </a:prstGeom>
        </p:spPr>
      </p:pic>
      <p:sp>
        <p:nvSpPr>
          <p:cNvPr id="7" name="吹き出し: 四角形 6">
            <a:extLst>
              <a:ext uri="{FF2B5EF4-FFF2-40B4-BE49-F238E27FC236}">
                <a16:creationId xmlns:a16="http://schemas.microsoft.com/office/drawing/2014/main" id="{F4A66568-5F64-070D-71C2-E11098CF0121}"/>
              </a:ext>
            </a:extLst>
          </p:cNvPr>
          <p:cNvSpPr/>
          <p:nvPr/>
        </p:nvSpPr>
        <p:spPr>
          <a:xfrm>
            <a:off x="3898403" y="3769878"/>
            <a:ext cx="1862701" cy="645324"/>
          </a:xfrm>
          <a:prstGeom prst="wedgeRectCallout">
            <a:avLst>
              <a:gd name="adj1" fmla="val -78047"/>
              <a:gd name="adj2" fmla="val 140313"/>
            </a:avLst>
          </a:prstGeom>
          <a:solidFill>
            <a:srgbClr val="C9E3AC"/>
          </a:solidFill>
          <a:ln w="38100">
            <a:solidFill>
              <a:srgbClr val="90BE6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800" dirty="0">
                <a:solidFill>
                  <a:schemeClr val="tx1"/>
                </a:solidFill>
                <a:latin typeface="A-OTF Gothic BBB Pr6N Medium" panose="020B0400000000000000" pitchFamily="34" charset="-128"/>
                <a:ea typeface="A-OTF Gothic BBB Pr6N Medium" panose="020B0400000000000000" pitchFamily="34" charset="-128"/>
              </a:rPr>
              <a:t>RESET </a:t>
            </a:r>
            <a:r>
              <a:rPr kumimoji="1" lang="ja-JP" altLang="en-US" sz="1800" dirty="0">
                <a:solidFill>
                  <a:schemeClr val="tx1"/>
                </a:solidFill>
                <a:latin typeface="A-OTF Gothic BBB Pr6N Medium" panose="020B0400000000000000" pitchFamily="34" charset="-128"/>
                <a:ea typeface="A-OTF Gothic BBB Pr6N Medium" panose="020B0400000000000000" pitchFamily="34" charset="-128"/>
              </a:rPr>
              <a:t>ボタン</a:t>
            </a:r>
          </a:p>
        </p:txBody>
      </p:sp>
      <p:sp>
        <p:nvSpPr>
          <p:cNvPr id="8" name="吹き出し: 四角形 7">
            <a:extLst>
              <a:ext uri="{FF2B5EF4-FFF2-40B4-BE49-F238E27FC236}">
                <a16:creationId xmlns:a16="http://schemas.microsoft.com/office/drawing/2014/main" id="{359826A8-2FD8-8392-92EA-6C215365AE42}"/>
              </a:ext>
            </a:extLst>
          </p:cNvPr>
          <p:cNvSpPr/>
          <p:nvPr/>
        </p:nvSpPr>
        <p:spPr>
          <a:xfrm>
            <a:off x="261374" y="3769878"/>
            <a:ext cx="1862701" cy="645324"/>
          </a:xfrm>
          <a:prstGeom prst="wedgeRectCallout">
            <a:avLst>
              <a:gd name="adj1" fmla="val 66238"/>
              <a:gd name="adj2" fmla="val 130701"/>
            </a:avLst>
          </a:prstGeom>
          <a:solidFill>
            <a:srgbClr val="C9E3AC"/>
          </a:solidFill>
          <a:ln w="38100">
            <a:solidFill>
              <a:srgbClr val="90BE6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800" dirty="0">
                <a:solidFill>
                  <a:schemeClr val="tx1"/>
                </a:solidFill>
                <a:latin typeface="A-OTF Gothic BBB Pr6N Medium" panose="020B0400000000000000" pitchFamily="34" charset="-128"/>
                <a:ea typeface="A-OTF Gothic BBB Pr6N Medium" panose="020B0400000000000000" pitchFamily="34" charset="-128"/>
              </a:rPr>
              <a:t>BOOT </a:t>
            </a:r>
            <a:r>
              <a:rPr kumimoji="1" lang="ja-JP" altLang="en-US" sz="1800" dirty="0">
                <a:solidFill>
                  <a:schemeClr val="tx1"/>
                </a:solidFill>
                <a:latin typeface="A-OTF Gothic BBB Pr6N Medium" panose="020B0400000000000000" pitchFamily="34" charset="-128"/>
                <a:ea typeface="A-OTF Gothic BBB Pr6N Medium" panose="020B0400000000000000" pitchFamily="34" charset="-128"/>
              </a:rPr>
              <a:t>ボタン</a:t>
            </a:r>
          </a:p>
        </p:txBody>
      </p:sp>
      <p:sp>
        <p:nvSpPr>
          <p:cNvPr id="12" name="吹き出し: 四角形 11">
            <a:extLst>
              <a:ext uri="{FF2B5EF4-FFF2-40B4-BE49-F238E27FC236}">
                <a16:creationId xmlns:a16="http://schemas.microsoft.com/office/drawing/2014/main" id="{BF32B58C-F58F-D436-21C9-0FAB3EDFA68A}"/>
              </a:ext>
            </a:extLst>
          </p:cNvPr>
          <p:cNvSpPr/>
          <p:nvPr/>
        </p:nvSpPr>
        <p:spPr>
          <a:xfrm>
            <a:off x="4632297" y="5150821"/>
            <a:ext cx="2775005" cy="922277"/>
          </a:xfrm>
          <a:prstGeom prst="wedgeRectCallout">
            <a:avLst>
              <a:gd name="adj1" fmla="val -92087"/>
              <a:gd name="adj2" fmla="val 18971"/>
            </a:avLst>
          </a:prstGeom>
          <a:solidFill>
            <a:srgbClr val="C9E3AC"/>
          </a:solidFill>
          <a:ln w="38100">
            <a:solidFill>
              <a:srgbClr val="90BE6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800" dirty="0">
                <a:solidFill>
                  <a:schemeClr val="tx1"/>
                </a:solidFill>
                <a:latin typeface="A-OTF Gothic BBB Pr6N Medium" panose="020B0400000000000000" pitchFamily="34" charset="-128"/>
                <a:ea typeface="A-OTF Gothic BBB Pr6N Medium" panose="020B0400000000000000" pitchFamily="34" charset="-128"/>
              </a:rPr>
              <a:t>Micro USB Type-B</a:t>
            </a:r>
          </a:p>
          <a:p>
            <a:pPr algn="ctr"/>
            <a:r>
              <a:rPr kumimoji="1" lang="ja-JP" altLang="en-US" sz="1800" dirty="0">
                <a:solidFill>
                  <a:schemeClr val="tx1"/>
                </a:solidFill>
                <a:latin typeface="A-OTF Gothic BBB Pr6N Medium" panose="020B0400000000000000" pitchFamily="34" charset="-128"/>
                <a:ea typeface="A-OTF Gothic BBB Pr6N Medium" panose="020B0400000000000000" pitchFamily="34" charset="-128"/>
              </a:rPr>
              <a:t>パソコンに差し込む</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373EDEAB-CAE6-8DB9-5FE7-E37E8CB90528}"/>
            </a:ext>
          </a:extLst>
        </p:cNvPr>
        <p:cNvGrpSpPr/>
        <p:nvPr/>
      </p:nvGrpSpPr>
      <p:grpSpPr>
        <a:xfrm>
          <a:off x="0" y="0"/>
          <a:ext cx="0" cy="0"/>
          <a:chOff x="0" y="0"/>
          <a:chExt cx="0" cy="0"/>
        </a:xfrm>
      </p:grpSpPr>
      <p:sp>
        <p:nvSpPr>
          <p:cNvPr id="128" name="Google Shape;128;p6">
            <a:extLst>
              <a:ext uri="{FF2B5EF4-FFF2-40B4-BE49-F238E27FC236}">
                <a16:creationId xmlns:a16="http://schemas.microsoft.com/office/drawing/2014/main" id="{A6E82EAE-D11C-0BF5-E43A-B1C0E373357A}"/>
              </a:ext>
            </a:extLst>
          </p:cNvPr>
          <p:cNvSpPr txBox="1">
            <a:spLocks noGrp="1"/>
          </p:cNvSpPr>
          <p:nvPr>
            <p:ph type="title"/>
          </p:nvPr>
        </p:nvSpPr>
        <p:spPr>
          <a:xfrm>
            <a:off x="0" y="0"/>
            <a:ext cx="14268450" cy="1017646"/>
          </a:xfrm>
          <a:prstGeom prst="rect">
            <a:avLst/>
          </a:prstGeom>
          <a:noFill/>
          <a:ln>
            <a:noFill/>
          </a:ln>
        </p:spPr>
        <p:txBody>
          <a:bodyPr spcFirstLastPara="1" wrap="square" lIns="91425" tIns="45700" rIns="91425" bIns="45700" anchor="ctr" anchorCtr="0">
            <a:normAutofit/>
          </a:bodyPr>
          <a:lstStyle/>
          <a:p>
            <a:r>
              <a:rPr lang="en-US" altLang="ja-JP" dirty="0"/>
              <a:t>RGB</a:t>
            </a:r>
            <a:r>
              <a:rPr lang="ja-JP" altLang="en-US" dirty="0"/>
              <a:t> </a:t>
            </a:r>
            <a:r>
              <a:rPr lang="en-US" altLang="ja-JP" dirty="0"/>
              <a:t>LED (OSTA5131A-R/PG/B)</a:t>
            </a:r>
            <a:endParaRPr dirty="0"/>
          </a:p>
        </p:txBody>
      </p:sp>
      <p:sp>
        <p:nvSpPr>
          <p:cNvPr id="2" name="テキスト ボックス 1">
            <a:extLst>
              <a:ext uri="{FF2B5EF4-FFF2-40B4-BE49-F238E27FC236}">
                <a16:creationId xmlns:a16="http://schemas.microsoft.com/office/drawing/2014/main" id="{503D5950-63C8-CD8D-6A94-E3842AD3C9BA}"/>
              </a:ext>
            </a:extLst>
          </p:cNvPr>
          <p:cNvSpPr txBox="1"/>
          <p:nvPr/>
        </p:nvSpPr>
        <p:spPr>
          <a:xfrm>
            <a:off x="4337894" y="1267961"/>
            <a:ext cx="7670687" cy="1569660"/>
          </a:xfrm>
          <a:prstGeom prst="rect">
            <a:avLst/>
          </a:prstGeom>
          <a:noFill/>
        </p:spPr>
        <p:txBody>
          <a:bodyPr wrap="square" rtlCol="0">
            <a:spAutoFit/>
          </a:bodyPr>
          <a:lstStyle/>
          <a:p>
            <a:r>
              <a:rPr kumimoji="1" lang="ja-JP" altLang="en-US" sz="2400" dirty="0"/>
              <a:t>・内部に赤、緑、青の</a:t>
            </a:r>
            <a:r>
              <a:rPr kumimoji="1" lang="en-US" altLang="ja-JP" sz="2400" dirty="0"/>
              <a:t>3</a:t>
            </a:r>
            <a:r>
              <a:rPr kumimoji="1" lang="ja-JP" altLang="en-US" sz="2400" dirty="0"/>
              <a:t>つの</a:t>
            </a:r>
            <a:r>
              <a:rPr kumimoji="1" lang="en-US" altLang="ja-JP" sz="2400" dirty="0"/>
              <a:t>LED</a:t>
            </a:r>
            <a:r>
              <a:rPr kumimoji="1" lang="ja-JP" altLang="en-US" sz="2400" dirty="0"/>
              <a:t>が入っている。</a:t>
            </a:r>
            <a:endParaRPr kumimoji="1" lang="en-US" altLang="ja-JP" sz="2400" dirty="0"/>
          </a:p>
          <a:p>
            <a:r>
              <a:rPr kumimoji="1" lang="ja-JP" altLang="en-US" sz="2400" dirty="0"/>
              <a:t>　</a:t>
            </a:r>
            <a:r>
              <a:rPr kumimoji="1" lang="en-US" altLang="ja-JP" sz="2400" dirty="0"/>
              <a:t>3</a:t>
            </a:r>
            <a:r>
              <a:rPr kumimoji="1" lang="ja-JP" altLang="en-US" sz="2400" dirty="0"/>
              <a:t>色を混ぜることも可能。</a:t>
            </a:r>
            <a:endParaRPr kumimoji="1" lang="en-US" altLang="ja-JP" sz="2400" dirty="0"/>
          </a:p>
          <a:p>
            <a:endParaRPr kumimoji="1" lang="en-US" altLang="ja-JP" sz="2400" dirty="0"/>
          </a:p>
          <a:p>
            <a:r>
              <a:rPr kumimoji="1" lang="ja-JP" altLang="en-US" sz="2400" dirty="0"/>
              <a:t>・それぞれの色のピンに電圧をかけることで光らせる。</a:t>
            </a:r>
          </a:p>
        </p:txBody>
      </p:sp>
      <p:pic>
        <p:nvPicPr>
          <p:cNvPr id="4" name="図 3" descr="The image shows a small, clear plastic tube with three metal wires protruding from its top, lying on a rough, textured surface.&#10;&#10;AI 生成コンテンツは誤りを含む可能性があります。">
            <a:extLst>
              <a:ext uri="{FF2B5EF4-FFF2-40B4-BE49-F238E27FC236}">
                <a16:creationId xmlns:a16="http://schemas.microsoft.com/office/drawing/2014/main" id="{FD79236D-B5EC-8CB8-FFBE-C62B0FB2301F}"/>
              </a:ext>
            </a:extLst>
          </p:cNvPr>
          <p:cNvPicPr>
            <a:picLocks noChangeAspect="1"/>
          </p:cNvPicPr>
          <p:nvPr/>
        </p:nvPicPr>
        <p:blipFill>
          <a:blip r:embed="rId3"/>
          <a:stretch>
            <a:fillRect/>
          </a:stretch>
        </p:blipFill>
        <p:spPr>
          <a:xfrm>
            <a:off x="652083" y="1415397"/>
            <a:ext cx="3526160" cy="4562475"/>
          </a:xfrm>
          <a:prstGeom prst="rect">
            <a:avLst/>
          </a:prstGeom>
        </p:spPr>
      </p:pic>
      <p:sp>
        <p:nvSpPr>
          <p:cNvPr id="5" name="吹き出し: 四角形 4">
            <a:extLst>
              <a:ext uri="{FF2B5EF4-FFF2-40B4-BE49-F238E27FC236}">
                <a16:creationId xmlns:a16="http://schemas.microsoft.com/office/drawing/2014/main" id="{7B138A06-A746-CC49-8026-ACBA2F4F2EFB}"/>
              </a:ext>
            </a:extLst>
          </p:cNvPr>
          <p:cNvSpPr/>
          <p:nvPr/>
        </p:nvSpPr>
        <p:spPr>
          <a:xfrm>
            <a:off x="2014918" y="6073779"/>
            <a:ext cx="631178" cy="521274"/>
          </a:xfrm>
          <a:prstGeom prst="wedgeRectCallout">
            <a:avLst>
              <a:gd name="adj1" fmla="val 21404"/>
              <a:gd name="adj2" fmla="val -172302"/>
            </a:avLst>
          </a:prstGeom>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kumimoji="1" lang="en-US" altLang="ja-JP" dirty="0">
                <a:latin typeface="Helvetica Neue" panose="02000503000000020004" pitchFamily="2" charset="0"/>
              </a:rPr>
              <a:t>GND</a:t>
            </a:r>
            <a:endParaRPr kumimoji="1" lang="ja-JP" altLang="en-US" dirty="0">
              <a:latin typeface="Helvetica Neue" panose="02000503000000020004" pitchFamily="2" charset="0"/>
            </a:endParaRPr>
          </a:p>
        </p:txBody>
      </p:sp>
      <p:pic>
        <p:nvPicPr>
          <p:cNvPr id="10" name="図 9" descr="The image depicts a bright red LED light with a plus sign and a resistor symbol, illustrating a simple electronic circuit.&#10;&#10;AI 生成コンテンツは誤りを含む可能性があります。">
            <a:extLst>
              <a:ext uri="{FF2B5EF4-FFF2-40B4-BE49-F238E27FC236}">
                <a16:creationId xmlns:a16="http://schemas.microsoft.com/office/drawing/2014/main" id="{21FCDACF-5A15-13CA-C1D3-B18491C19AFD}"/>
              </a:ext>
            </a:extLst>
          </p:cNvPr>
          <p:cNvPicPr>
            <a:picLocks noChangeAspect="1"/>
          </p:cNvPicPr>
          <p:nvPr/>
        </p:nvPicPr>
        <p:blipFill>
          <a:blip r:embed="rId4"/>
          <a:stretch>
            <a:fillRect/>
          </a:stretch>
        </p:blipFill>
        <p:spPr>
          <a:xfrm>
            <a:off x="8515217" y="3751363"/>
            <a:ext cx="1324360" cy="2633958"/>
          </a:xfrm>
          <a:prstGeom prst="rect">
            <a:avLst/>
          </a:prstGeom>
        </p:spPr>
      </p:pic>
      <p:sp>
        <p:nvSpPr>
          <p:cNvPr id="11" name="フレーム 10">
            <a:extLst>
              <a:ext uri="{FF2B5EF4-FFF2-40B4-BE49-F238E27FC236}">
                <a16:creationId xmlns:a16="http://schemas.microsoft.com/office/drawing/2014/main" id="{B6435543-AC82-0602-15FB-C3080B06E32D}"/>
              </a:ext>
            </a:extLst>
          </p:cNvPr>
          <p:cNvSpPr/>
          <p:nvPr/>
        </p:nvSpPr>
        <p:spPr>
          <a:xfrm>
            <a:off x="6248268" y="3170863"/>
            <a:ext cx="5196839" cy="3510785"/>
          </a:xfrm>
          <a:prstGeom prst="frame">
            <a:avLst>
              <a:gd name="adj1" fmla="val 2532"/>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solidFill>
                <a:schemeClr val="tx1"/>
              </a:solidFill>
              <a:latin typeface="Helvetica Neue" panose="02000503000000020004" pitchFamily="2" charset="0"/>
            </a:endParaRPr>
          </a:p>
        </p:txBody>
      </p:sp>
      <p:sp>
        <p:nvSpPr>
          <p:cNvPr id="13" name="テキスト ボックス 12">
            <a:extLst>
              <a:ext uri="{FF2B5EF4-FFF2-40B4-BE49-F238E27FC236}">
                <a16:creationId xmlns:a16="http://schemas.microsoft.com/office/drawing/2014/main" id="{59F0023F-8087-F8C7-B167-FFAB518D010A}"/>
              </a:ext>
            </a:extLst>
          </p:cNvPr>
          <p:cNvSpPr txBox="1"/>
          <p:nvPr/>
        </p:nvSpPr>
        <p:spPr>
          <a:xfrm>
            <a:off x="6448973" y="3397231"/>
            <a:ext cx="4785284" cy="461665"/>
          </a:xfrm>
          <a:prstGeom prst="rect">
            <a:avLst/>
          </a:prstGeom>
          <a:noFill/>
        </p:spPr>
        <p:txBody>
          <a:bodyPr wrap="none" rtlCol="0">
            <a:spAutoFit/>
          </a:bodyPr>
          <a:lstStyle/>
          <a:p>
            <a:r>
              <a:rPr kumimoji="1" lang="ja-JP" altLang="en-US" sz="2400" dirty="0"/>
              <a:t>補足：一般的な単色</a:t>
            </a:r>
            <a:r>
              <a:rPr kumimoji="1" lang="en-US" altLang="ja-JP" sz="2400" dirty="0"/>
              <a:t>LED</a:t>
            </a:r>
            <a:r>
              <a:rPr kumimoji="1" lang="ja-JP" altLang="en-US" sz="2400" dirty="0"/>
              <a:t>の仕組み</a:t>
            </a:r>
          </a:p>
        </p:txBody>
      </p:sp>
      <p:sp>
        <p:nvSpPr>
          <p:cNvPr id="14" name="テキスト ボックス 13">
            <a:extLst>
              <a:ext uri="{FF2B5EF4-FFF2-40B4-BE49-F238E27FC236}">
                <a16:creationId xmlns:a16="http://schemas.microsoft.com/office/drawing/2014/main" id="{9034895A-C8E9-85BD-7B76-C58527B051E8}"/>
              </a:ext>
            </a:extLst>
          </p:cNvPr>
          <p:cNvSpPr txBox="1"/>
          <p:nvPr/>
        </p:nvSpPr>
        <p:spPr>
          <a:xfrm>
            <a:off x="9721485" y="5993099"/>
            <a:ext cx="1524776" cy="400110"/>
          </a:xfrm>
          <a:prstGeom prst="rect">
            <a:avLst/>
          </a:prstGeom>
          <a:noFill/>
        </p:spPr>
        <p:txBody>
          <a:bodyPr wrap="none" rtlCol="0">
            <a:spAutoFit/>
          </a:bodyPr>
          <a:lstStyle/>
          <a:p>
            <a:r>
              <a:rPr kumimoji="1" lang="en-US" altLang="ja-JP" sz="2000" dirty="0"/>
              <a:t>GND</a:t>
            </a:r>
            <a:r>
              <a:rPr kumimoji="1" lang="ja-JP" altLang="en-US" sz="2000" dirty="0"/>
              <a:t>に接続</a:t>
            </a:r>
          </a:p>
        </p:txBody>
      </p:sp>
      <p:sp>
        <p:nvSpPr>
          <p:cNvPr id="16" name="吹き出し: 角を丸めた四角形 15">
            <a:extLst>
              <a:ext uri="{FF2B5EF4-FFF2-40B4-BE49-F238E27FC236}">
                <a16:creationId xmlns:a16="http://schemas.microsoft.com/office/drawing/2014/main" id="{91E03A86-324C-4091-A596-E90C791383EA}"/>
              </a:ext>
            </a:extLst>
          </p:cNvPr>
          <p:cNvSpPr/>
          <p:nvPr/>
        </p:nvSpPr>
        <p:spPr>
          <a:xfrm>
            <a:off x="6581679" y="4885364"/>
            <a:ext cx="1925918" cy="1040187"/>
          </a:xfrm>
          <a:prstGeom prst="wedgeRoundRectCallout">
            <a:avLst>
              <a:gd name="adj1" fmla="val 75225"/>
              <a:gd name="adj2" fmla="val 75573"/>
              <a:gd name="adj3" fmla="val 16667"/>
            </a:avLst>
          </a:prstGeom>
          <a:ln/>
        </p:spPr>
        <p:style>
          <a:lnRef idx="2">
            <a:schemeClr val="accent2"/>
          </a:lnRef>
          <a:fillRef idx="1">
            <a:schemeClr val="lt1"/>
          </a:fillRef>
          <a:effectRef idx="0">
            <a:schemeClr val="accent2"/>
          </a:effectRef>
          <a:fontRef idx="minor">
            <a:schemeClr val="dk1"/>
          </a:fontRef>
        </p:style>
        <p:txBody>
          <a:bodyPr rtlCol="0" anchor="ctr"/>
          <a:lstStyle/>
          <a:p>
            <a:pPr algn="ctr"/>
            <a:r>
              <a:rPr kumimoji="1" lang="ja-JP" altLang="en-US" sz="2400" dirty="0">
                <a:latin typeface="A-OTF 中ゴシックBBB Pr6N Med"/>
                <a:ea typeface="Arial Unicode MS" panose="020B0604020202020204" pitchFamily="50" charset="-128"/>
                <a:cs typeface="Arial" panose="020B0604020202020204" pitchFamily="34" charset="0"/>
              </a:rPr>
              <a:t>電圧が高くなると光る</a:t>
            </a:r>
          </a:p>
        </p:txBody>
      </p:sp>
      <p:sp>
        <p:nvSpPr>
          <p:cNvPr id="17" name="吹き出し: 四角形 16">
            <a:extLst>
              <a:ext uri="{FF2B5EF4-FFF2-40B4-BE49-F238E27FC236}">
                <a16:creationId xmlns:a16="http://schemas.microsoft.com/office/drawing/2014/main" id="{4C0981B4-FB79-89AB-A906-9694ECCBFF2A}"/>
              </a:ext>
            </a:extLst>
          </p:cNvPr>
          <p:cNvSpPr/>
          <p:nvPr/>
        </p:nvSpPr>
        <p:spPr>
          <a:xfrm>
            <a:off x="1285287" y="5552505"/>
            <a:ext cx="631178" cy="521274"/>
          </a:xfrm>
          <a:prstGeom prst="wedgeRectCallout">
            <a:avLst>
              <a:gd name="adj1" fmla="val 103455"/>
              <a:gd name="adj2" fmla="val -93131"/>
            </a:avLst>
          </a:prstGeom>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kumimoji="1" lang="en-US" altLang="ja-JP" dirty="0">
                <a:latin typeface="Helvetica Neue" panose="02000503000000020004" pitchFamily="2" charset="0"/>
              </a:rPr>
              <a:t>R</a:t>
            </a:r>
            <a:endParaRPr kumimoji="1" lang="ja-JP" altLang="en-US" dirty="0">
              <a:latin typeface="Helvetica Neue" panose="02000503000000020004" pitchFamily="2" charset="0"/>
            </a:endParaRPr>
          </a:p>
        </p:txBody>
      </p:sp>
      <p:sp>
        <p:nvSpPr>
          <p:cNvPr id="18" name="吹き出し: 四角形 17">
            <a:extLst>
              <a:ext uri="{FF2B5EF4-FFF2-40B4-BE49-F238E27FC236}">
                <a16:creationId xmlns:a16="http://schemas.microsoft.com/office/drawing/2014/main" id="{D7F341E6-B6A1-7239-3BF0-39B9B68D49D8}"/>
              </a:ext>
            </a:extLst>
          </p:cNvPr>
          <p:cNvSpPr/>
          <p:nvPr/>
        </p:nvSpPr>
        <p:spPr>
          <a:xfrm>
            <a:off x="2807144" y="5971284"/>
            <a:ext cx="631178" cy="521274"/>
          </a:xfrm>
          <a:prstGeom prst="wedgeRectCallout">
            <a:avLst>
              <a:gd name="adj1" fmla="val -78596"/>
              <a:gd name="adj2" fmla="val -169196"/>
            </a:avLst>
          </a:prstGeom>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en-US" altLang="ja-JP" dirty="0">
                <a:latin typeface="Helvetica Neue" panose="02000503000000020004" pitchFamily="2" charset="0"/>
              </a:rPr>
              <a:t>G</a:t>
            </a:r>
            <a:endParaRPr kumimoji="1" lang="ja-JP" altLang="en-US" dirty="0">
              <a:latin typeface="Helvetica Neue" panose="02000503000000020004" pitchFamily="2" charset="0"/>
            </a:endParaRPr>
          </a:p>
        </p:txBody>
      </p:sp>
      <p:sp>
        <p:nvSpPr>
          <p:cNvPr id="19" name="吹き出し: 四角形 18">
            <a:extLst>
              <a:ext uri="{FF2B5EF4-FFF2-40B4-BE49-F238E27FC236}">
                <a16:creationId xmlns:a16="http://schemas.microsoft.com/office/drawing/2014/main" id="{087D9589-A72E-6665-DAB7-272AFDC85F93}"/>
              </a:ext>
            </a:extLst>
          </p:cNvPr>
          <p:cNvSpPr/>
          <p:nvPr/>
        </p:nvSpPr>
        <p:spPr>
          <a:xfrm>
            <a:off x="3122733" y="5306921"/>
            <a:ext cx="631178" cy="521274"/>
          </a:xfrm>
          <a:prstGeom prst="wedgeRectCallout">
            <a:avLst>
              <a:gd name="adj1" fmla="val -106801"/>
              <a:gd name="adj2" fmla="val -72951"/>
            </a:avLst>
          </a:prstGeom>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kumimoji="1" lang="en-US" altLang="ja-JP" dirty="0">
                <a:latin typeface="Helvetica Neue" panose="02000503000000020004" pitchFamily="2" charset="0"/>
              </a:rPr>
              <a:t>B</a:t>
            </a:r>
            <a:endParaRPr kumimoji="1" lang="ja-JP" altLang="en-US" dirty="0">
              <a:latin typeface="Helvetica Neue" panose="02000503000000020004" pitchFamily="2" charset="0"/>
            </a:endParaRPr>
          </a:p>
        </p:txBody>
      </p:sp>
    </p:spTree>
    <p:extLst>
      <p:ext uri="{BB962C8B-B14F-4D97-AF65-F5344CB8AC3E}">
        <p14:creationId xmlns:p14="http://schemas.microsoft.com/office/powerpoint/2010/main" val="1705753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a:extLst>
            <a:ext uri="{FF2B5EF4-FFF2-40B4-BE49-F238E27FC236}">
              <a16:creationId xmlns:a16="http://schemas.microsoft.com/office/drawing/2014/main" id="{A013F07A-2FEA-222D-1DEC-61D8CE7632EF}"/>
            </a:ext>
          </a:extLst>
        </p:cNvPr>
        <p:cNvGrpSpPr/>
        <p:nvPr/>
      </p:nvGrpSpPr>
      <p:grpSpPr>
        <a:xfrm>
          <a:off x="0" y="0"/>
          <a:ext cx="0" cy="0"/>
          <a:chOff x="0" y="0"/>
          <a:chExt cx="0" cy="0"/>
        </a:xfrm>
      </p:grpSpPr>
      <p:sp>
        <p:nvSpPr>
          <p:cNvPr id="128" name="Google Shape;128;p6">
            <a:extLst>
              <a:ext uri="{FF2B5EF4-FFF2-40B4-BE49-F238E27FC236}">
                <a16:creationId xmlns:a16="http://schemas.microsoft.com/office/drawing/2014/main" id="{D9C930B0-8F4E-E3BB-7D49-F453FEC8DF13}"/>
              </a:ext>
            </a:extLst>
          </p:cNvPr>
          <p:cNvSpPr txBox="1">
            <a:spLocks noGrp="1"/>
          </p:cNvSpPr>
          <p:nvPr>
            <p:ph type="title"/>
          </p:nvPr>
        </p:nvSpPr>
        <p:spPr>
          <a:xfrm>
            <a:off x="0" y="0"/>
            <a:ext cx="10515600" cy="1017646"/>
          </a:xfrm>
          <a:prstGeom prst="rect">
            <a:avLst/>
          </a:prstGeom>
          <a:noFill/>
          <a:ln>
            <a:noFill/>
          </a:ln>
        </p:spPr>
        <p:txBody>
          <a:bodyPr spcFirstLastPara="1" wrap="square" lIns="91425" tIns="45700" rIns="91425" bIns="45700" anchor="ctr" anchorCtr="0">
            <a:normAutofit/>
          </a:bodyPr>
          <a:lstStyle/>
          <a:p>
            <a:pPr lvl="0"/>
            <a:r>
              <a:rPr lang="ja-JP" altLang="en-US" dirty="0"/>
              <a:t>光センサ</a:t>
            </a:r>
            <a:r>
              <a:rPr lang="ja-JP" dirty="0"/>
              <a:t>（</a:t>
            </a:r>
            <a:r>
              <a:rPr kumimoji="1" lang="en-US" altLang="ja-JP" dirty="0" err="1">
                <a:latin typeface="Artifakt Element" panose="020B0503050000020004" pitchFamily="34" charset="0"/>
                <a:ea typeface="A-OTF 中ゴシックBBB Pr6N Med" panose="020B0400000000000000"/>
              </a:rPr>
              <a:t>CdS</a:t>
            </a:r>
            <a:r>
              <a:rPr kumimoji="1" lang="ja-JP" altLang="en-US" dirty="0">
                <a:latin typeface="Artifakt Element" panose="020B0503050000020004" pitchFamily="34" charset="0"/>
                <a:ea typeface="A-OTF 中ゴシックBBB Pr6N Med" panose="020B0400000000000000"/>
              </a:rPr>
              <a:t>セル</a:t>
            </a:r>
            <a:r>
              <a:rPr lang="ja-JP" dirty="0"/>
              <a:t>）</a:t>
            </a:r>
            <a:endParaRPr dirty="0"/>
          </a:p>
        </p:txBody>
      </p:sp>
      <p:sp>
        <p:nvSpPr>
          <p:cNvPr id="2" name="テキスト ボックス 1">
            <a:extLst>
              <a:ext uri="{FF2B5EF4-FFF2-40B4-BE49-F238E27FC236}">
                <a16:creationId xmlns:a16="http://schemas.microsoft.com/office/drawing/2014/main" id="{AD751716-0B4C-A850-3AF6-D00E6DA5C1CC}"/>
              </a:ext>
            </a:extLst>
          </p:cNvPr>
          <p:cNvSpPr txBox="1"/>
          <p:nvPr/>
        </p:nvSpPr>
        <p:spPr>
          <a:xfrm>
            <a:off x="3408805" y="1490007"/>
            <a:ext cx="8598316" cy="3785652"/>
          </a:xfrm>
          <a:prstGeom prst="rect">
            <a:avLst/>
          </a:prstGeom>
          <a:noFill/>
        </p:spPr>
        <p:txBody>
          <a:bodyPr wrap="square" rtlCol="0">
            <a:spAutoFit/>
          </a:bodyPr>
          <a:lstStyle/>
          <a:p>
            <a:r>
              <a:rPr kumimoji="1" lang="ja-JP" altLang="en-US" sz="2400" dirty="0"/>
              <a:t>・光の強さによって、電気の流れにくさ（抵抗）が変わる。</a:t>
            </a:r>
            <a:endParaRPr kumimoji="1" lang="en-US" altLang="ja-JP" sz="2400" dirty="0"/>
          </a:p>
          <a:p>
            <a:endParaRPr kumimoji="1" lang="ja-JP" altLang="en-US" sz="2400" dirty="0"/>
          </a:p>
          <a:p>
            <a:r>
              <a:rPr kumimoji="1" lang="ja-JP" altLang="en-US" sz="2400" dirty="0"/>
              <a:t>・明るいほど抵抗が小さくなり、暗いと大きくなる。</a:t>
            </a:r>
            <a:endParaRPr kumimoji="1" lang="en-US" altLang="ja-JP" sz="2400" dirty="0"/>
          </a:p>
          <a:p>
            <a:endParaRPr kumimoji="1" lang="en-US" altLang="ja-JP" sz="2400" dirty="0"/>
          </a:p>
          <a:p>
            <a:r>
              <a:rPr kumimoji="1" lang="ja-JP" altLang="en-US" sz="2400" dirty="0"/>
              <a:t>・この性質を使って、</a:t>
            </a:r>
            <a:r>
              <a:rPr kumimoji="1" lang="en-US" altLang="ja-JP" sz="2400" dirty="0"/>
              <a:t>LED</a:t>
            </a:r>
            <a:r>
              <a:rPr kumimoji="1" lang="ja-JP" altLang="en-US" sz="2400" dirty="0"/>
              <a:t>の明るさなどを調節できる。</a:t>
            </a:r>
            <a:endParaRPr kumimoji="1" lang="en-US" altLang="ja-JP" sz="2400" dirty="0"/>
          </a:p>
          <a:p>
            <a:endParaRPr kumimoji="1" lang="en-US" altLang="ja-JP" sz="2400" dirty="0"/>
          </a:p>
          <a:p>
            <a:r>
              <a:rPr kumimoji="1" lang="ja-JP" altLang="en-US" sz="2400" dirty="0"/>
              <a:t>・科学的には、硫化カドミウム</a:t>
            </a:r>
            <a:r>
              <a:rPr kumimoji="1" lang="en-US" altLang="ja-JP" sz="2400" dirty="0"/>
              <a:t>(</a:t>
            </a:r>
            <a:r>
              <a:rPr kumimoji="1" lang="en-US" altLang="ja-JP" sz="2400" dirty="0" err="1"/>
              <a:t>CdS</a:t>
            </a:r>
            <a:r>
              <a:rPr kumimoji="1" lang="en-US" altLang="ja-JP" sz="2400" dirty="0"/>
              <a:t>)</a:t>
            </a:r>
            <a:r>
              <a:rPr kumimoji="1" lang="ja-JP" altLang="en-US" sz="2400" dirty="0"/>
              <a:t>中に</a:t>
            </a:r>
            <a:r>
              <a:rPr lang="ja-JP" altLang="en-US" sz="2400" dirty="0"/>
              <a:t>光子が入射すると電子がエネルギーを受け、原子に束縛された状態から解放されて結晶中を移動できるようになり、元の場所にはホールが生じることで、電気伝導度が上がり抵抗が低下する 。</a:t>
            </a:r>
          </a:p>
        </p:txBody>
      </p:sp>
      <p:pic>
        <p:nvPicPr>
          <p:cNvPr id="4" name="図 3" descr="The image shows a small, metallic rectangular component with a central conductive pin, possibly a capacitor, being held between two electrodes.&#10;&#10;AI 生成コンテンツは誤りを含む可能性があります。">
            <a:extLst>
              <a:ext uri="{FF2B5EF4-FFF2-40B4-BE49-F238E27FC236}">
                <a16:creationId xmlns:a16="http://schemas.microsoft.com/office/drawing/2014/main" id="{A8202695-A80D-0F9D-AB25-A11154D81964}"/>
              </a:ext>
            </a:extLst>
          </p:cNvPr>
          <p:cNvPicPr>
            <a:picLocks noChangeAspect="1"/>
          </p:cNvPicPr>
          <p:nvPr/>
        </p:nvPicPr>
        <p:blipFill>
          <a:blip r:embed="rId3"/>
          <a:stretch>
            <a:fillRect/>
          </a:stretch>
        </p:blipFill>
        <p:spPr>
          <a:xfrm>
            <a:off x="538605" y="2107823"/>
            <a:ext cx="2870200" cy="2870200"/>
          </a:xfrm>
          <a:prstGeom prst="rect">
            <a:avLst/>
          </a:prstGeom>
        </p:spPr>
      </p:pic>
    </p:spTree>
    <p:extLst>
      <p:ext uri="{BB962C8B-B14F-4D97-AF65-F5344CB8AC3E}">
        <p14:creationId xmlns:p14="http://schemas.microsoft.com/office/powerpoint/2010/main" val="4003349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6CDBE6-6A66-9244-8A44-B899F6B4DA53}"/>
              </a:ext>
            </a:extLst>
          </p:cNvPr>
          <p:cNvSpPr>
            <a:spLocks noGrp="1"/>
          </p:cNvSpPr>
          <p:nvPr>
            <p:ph type="title"/>
          </p:nvPr>
        </p:nvSpPr>
        <p:spPr>
          <a:xfrm>
            <a:off x="427383" y="266699"/>
            <a:ext cx="8844804" cy="755451"/>
          </a:xfrm>
        </p:spPr>
        <p:txBody>
          <a:bodyPr/>
          <a:lstStyle/>
          <a:p>
            <a:r>
              <a:rPr lang="ja-JP" altLang="en-US" dirty="0"/>
              <a:t>ボタン（タクトスイッチ）</a:t>
            </a:r>
          </a:p>
        </p:txBody>
      </p:sp>
      <p:pic>
        <p:nvPicPr>
          <p:cNvPr id="11" name="図 10" descr="The image shows a small, blue, plastic plug with a black plastic housing, sitting on a light gray, uneven floor.&#10;&#10;AI 生成コンテンツは誤りを含む可能性があります。">
            <a:extLst>
              <a:ext uri="{FF2B5EF4-FFF2-40B4-BE49-F238E27FC236}">
                <a16:creationId xmlns:a16="http://schemas.microsoft.com/office/drawing/2014/main" id="{88D0F99B-1BA7-3C68-28E1-E370D2C51C39}"/>
              </a:ext>
            </a:extLst>
          </p:cNvPr>
          <p:cNvPicPr>
            <a:picLocks noChangeAspect="1"/>
          </p:cNvPicPr>
          <p:nvPr/>
        </p:nvPicPr>
        <p:blipFill>
          <a:blip r:embed="rId2"/>
          <a:stretch>
            <a:fillRect/>
          </a:stretch>
        </p:blipFill>
        <p:spPr>
          <a:xfrm>
            <a:off x="3639162" y="1218647"/>
            <a:ext cx="4092041" cy="5514230"/>
          </a:xfrm>
          <a:prstGeom prst="rect">
            <a:avLst/>
          </a:prstGeom>
        </p:spPr>
      </p:pic>
      <p:sp>
        <p:nvSpPr>
          <p:cNvPr id="12" name="吹き出し: 四角形 11">
            <a:extLst>
              <a:ext uri="{FF2B5EF4-FFF2-40B4-BE49-F238E27FC236}">
                <a16:creationId xmlns:a16="http://schemas.microsoft.com/office/drawing/2014/main" id="{88E34ADA-1E91-3D5F-98EB-9476C6258A59}"/>
              </a:ext>
            </a:extLst>
          </p:cNvPr>
          <p:cNvSpPr/>
          <p:nvPr/>
        </p:nvSpPr>
        <p:spPr>
          <a:xfrm>
            <a:off x="842838" y="2735249"/>
            <a:ext cx="3760967" cy="1820848"/>
          </a:xfrm>
          <a:custGeom>
            <a:avLst/>
            <a:gdLst>
              <a:gd name="csX0" fmla="*/ 0 w 2708860"/>
              <a:gd name="csY0" fmla="*/ 0 h 659958"/>
              <a:gd name="csX1" fmla="*/ 1580168 w 2708860"/>
              <a:gd name="csY1" fmla="*/ 0 h 659958"/>
              <a:gd name="csX2" fmla="*/ 3144580 w 2708860"/>
              <a:gd name="csY2" fmla="*/ -504327 h 659958"/>
              <a:gd name="csX3" fmla="*/ 2257383 w 2708860"/>
              <a:gd name="csY3" fmla="*/ 0 h 659958"/>
              <a:gd name="csX4" fmla="*/ 2708860 w 2708860"/>
              <a:gd name="csY4" fmla="*/ 0 h 659958"/>
              <a:gd name="csX5" fmla="*/ 2708860 w 2708860"/>
              <a:gd name="csY5" fmla="*/ 109993 h 659958"/>
              <a:gd name="csX6" fmla="*/ 2708860 w 2708860"/>
              <a:gd name="csY6" fmla="*/ 109993 h 659958"/>
              <a:gd name="csX7" fmla="*/ 2708860 w 2708860"/>
              <a:gd name="csY7" fmla="*/ 274983 h 659958"/>
              <a:gd name="csX8" fmla="*/ 2708860 w 2708860"/>
              <a:gd name="csY8" fmla="*/ 659958 h 659958"/>
              <a:gd name="csX9" fmla="*/ 2257383 w 2708860"/>
              <a:gd name="csY9" fmla="*/ 659958 h 659958"/>
              <a:gd name="csX10" fmla="*/ 1580168 w 2708860"/>
              <a:gd name="csY10" fmla="*/ 659958 h 659958"/>
              <a:gd name="csX11" fmla="*/ 1580168 w 2708860"/>
              <a:gd name="csY11" fmla="*/ 659958 h 659958"/>
              <a:gd name="csX12" fmla="*/ 0 w 2708860"/>
              <a:gd name="csY12" fmla="*/ 659958 h 659958"/>
              <a:gd name="csX13" fmla="*/ 0 w 2708860"/>
              <a:gd name="csY13" fmla="*/ 274983 h 659958"/>
              <a:gd name="csX14" fmla="*/ 0 w 2708860"/>
              <a:gd name="csY14" fmla="*/ 109993 h 659958"/>
              <a:gd name="csX15" fmla="*/ 0 w 2708860"/>
              <a:gd name="csY15" fmla="*/ 109993 h 659958"/>
              <a:gd name="csX16" fmla="*/ 0 w 2708860"/>
              <a:gd name="csY16" fmla="*/ 0 h 659958"/>
              <a:gd name="csX0" fmla="*/ 0 w 3144580"/>
              <a:gd name="csY0" fmla="*/ 504327 h 1442471"/>
              <a:gd name="csX1" fmla="*/ 1580168 w 3144580"/>
              <a:gd name="csY1" fmla="*/ 504327 h 1442471"/>
              <a:gd name="csX2" fmla="*/ 3144580 w 3144580"/>
              <a:gd name="csY2" fmla="*/ 0 h 1442471"/>
              <a:gd name="csX3" fmla="*/ 2257383 w 3144580"/>
              <a:gd name="csY3" fmla="*/ 504327 h 1442471"/>
              <a:gd name="csX4" fmla="*/ 2708860 w 3144580"/>
              <a:gd name="csY4" fmla="*/ 504327 h 1442471"/>
              <a:gd name="csX5" fmla="*/ 2708860 w 3144580"/>
              <a:gd name="csY5" fmla="*/ 614320 h 1442471"/>
              <a:gd name="csX6" fmla="*/ 2708860 w 3144580"/>
              <a:gd name="csY6" fmla="*/ 614320 h 1442471"/>
              <a:gd name="csX7" fmla="*/ 2708860 w 3144580"/>
              <a:gd name="csY7" fmla="*/ 779310 h 1442471"/>
              <a:gd name="csX8" fmla="*/ 2708860 w 3144580"/>
              <a:gd name="csY8" fmla="*/ 1164285 h 1442471"/>
              <a:gd name="csX9" fmla="*/ 2257383 w 3144580"/>
              <a:gd name="csY9" fmla="*/ 1164285 h 1442471"/>
              <a:gd name="csX10" fmla="*/ 2910178 w 3144580"/>
              <a:gd name="csY10" fmla="*/ 1442471 h 1442471"/>
              <a:gd name="csX11" fmla="*/ 1580168 w 3144580"/>
              <a:gd name="csY11" fmla="*/ 1164285 h 1442471"/>
              <a:gd name="csX12" fmla="*/ 1580168 w 3144580"/>
              <a:gd name="csY12" fmla="*/ 1164285 h 1442471"/>
              <a:gd name="csX13" fmla="*/ 0 w 3144580"/>
              <a:gd name="csY13" fmla="*/ 1164285 h 1442471"/>
              <a:gd name="csX14" fmla="*/ 0 w 3144580"/>
              <a:gd name="csY14" fmla="*/ 779310 h 1442471"/>
              <a:gd name="csX15" fmla="*/ 0 w 3144580"/>
              <a:gd name="csY15" fmla="*/ 614320 h 1442471"/>
              <a:gd name="csX16" fmla="*/ 0 w 3144580"/>
              <a:gd name="csY16" fmla="*/ 614320 h 1442471"/>
              <a:gd name="csX17" fmla="*/ 0 w 3144580"/>
              <a:gd name="csY17" fmla="*/ 504327 h 14424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144580" h="1442471">
                <a:moveTo>
                  <a:pt x="0" y="504327"/>
                </a:moveTo>
                <a:lnTo>
                  <a:pt x="1580168" y="504327"/>
                </a:lnTo>
                <a:lnTo>
                  <a:pt x="3144580" y="0"/>
                </a:lnTo>
                <a:lnTo>
                  <a:pt x="2257383" y="504327"/>
                </a:lnTo>
                <a:lnTo>
                  <a:pt x="2708860" y="504327"/>
                </a:lnTo>
                <a:lnTo>
                  <a:pt x="2708860" y="614320"/>
                </a:lnTo>
                <a:lnTo>
                  <a:pt x="2708860" y="614320"/>
                </a:lnTo>
                <a:lnTo>
                  <a:pt x="2708860" y="779310"/>
                </a:lnTo>
                <a:lnTo>
                  <a:pt x="2708860" y="1164285"/>
                </a:lnTo>
                <a:lnTo>
                  <a:pt x="2257383" y="1164285"/>
                </a:lnTo>
                <a:cubicBezTo>
                  <a:pt x="2056213" y="1164248"/>
                  <a:pt x="3111348" y="1442508"/>
                  <a:pt x="2910178" y="1442471"/>
                </a:cubicBezTo>
                <a:lnTo>
                  <a:pt x="1580168" y="1164285"/>
                </a:lnTo>
                <a:lnTo>
                  <a:pt x="1580168" y="1164285"/>
                </a:lnTo>
                <a:lnTo>
                  <a:pt x="0" y="1164285"/>
                </a:lnTo>
                <a:lnTo>
                  <a:pt x="0" y="779310"/>
                </a:lnTo>
                <a:lnTo>
                  <a:pt x="0" y="614320"/>
                </a:lnTo>
                <a:lnTo>
                  <a:pt x="0" y="614320"/>
                </a:lnTo>
                <a:lnTo>
                  <a:pt x="0" y="504327"/>
                </a:lnTo>
                <a:close/>
              </a:path>
            </a:pathLst>
          </a:custGeom>
          <a:ln/>
        </p:spPr>
        <p:style>
          <a:lnRef idx="1">
            <a:schemeClr val="accent6"/>
          </a:lnRef>
          <a:fillRef idx="2">
            <a:schemeClr val="accent6"/>
          </a:fillRef>
          <a:effectRef idx="1">
            <a:schemeClr val="accent6"/>
          </a:effectRef>
          <a:fontRef idx="minor">
            <a:schemeClr val="dk1"/>
          </a:fontRef>
        </p:style>
        <p:txBody>
          <a:bodyPr rtlCol="0" anchor="ctr"/>
          <a:lstStyle/>
          <a:p>
            <a:pPr algn="ctr"/>
            <a:endParaRPr kumimoji="1" lang="en-US" altLang="ja-JP" sz="2400" dirty="0">
              <a:solidFill>
                <a:schemeClr val="tx1"/>
              </a:solidFill>
              <a:latin typeface="A-OTF 中ゴシックBBB Pr6N Med"/>
              <a:ea typeface="A-OTF Gothic BBB Pr6N Medium" panose="020B0400000000000000"/>
            </a:endParaRPr>
          </a:p>
          <a:p>
            <a:pPr algn="ctr"/>
            <a:r>
              <a:rPr kumimoji="1" lang="ja-JP" altLang="en-US" sz="2400" dirty="0">
                <a:solidFill>
                  <a:schemeClr val="tx1"/>
                </a:solidFill>
                <a:latin typeface="A-OTF 中ゴシックBBB Pr6N Med"/>
                <a:ea typeface="A-OTF Gothic BBB Pr6N Medium" panose="020B0400000000000000"/>
              </a:rPr>
              <a:t>もともと電気的に</a:t>
            </a:r>
            <a:endParaRPr kumimoji="1" lang="en-US" altLang="ja-JP" sz="2400" dirty="0">
              <a:solidFill>
                <a:schemeClr val="tx1"/>
              </a:solidFill>
              <a:latin typeface="A-OTF 中ゴシックBBB Pr6N Med"/>
              <a:ea typeface="A-OTF Gothic BBB Pr6N Medium" panose="020B0400000000000000"/>
            </a:endParaRPr>
          </a:p>
          <a:p>
            <a:pPr algn="ctr"/>
            <a:r>
              <a:rPr kumimoji="1" lang="ja-JP" altLang="en-US" sz="2400" dirty="0">
                <a:solidFill>
                  <a:schemeClr val="tx1"/>
                </a:solidFill>
                <a:latin typeface="A-OTF 中ゴシックBBB Pr6N Med"/>
                <a:ea typeface="A-OTF Gothic BBB Pr6N Medium" panose="020B0400000000000000"/>
              </a:rPr>
              <a:t>繋がっている　　　　</a:t>
            </a:r>
          </a:p>
        </p:txBody>
      </p:sp>
      <p:sp>
        <p:nvSpPr>
          <p:cNvPr id="13" name="吹き出し: 四角形 11">
            <a:extLst>
              <a:ext uri="{FF2B5EF4-FFF2-40B4-BE49-F238E27FC236}">
                <a16:creationId xmlns:a16="http://schemas.microsoft.com/office/drawing/2014/main" id="{22BABB5B-2BDA-BEA3-7563-F9D268D80249}"/>
              </a:ext>
            </a:extLst>
          </p:cNvPr>
          <p:cNvSpPr/>
          <p:nvPr/>
        </p:nvSpPr>
        <p:spPr>
          <a:xfrm flipH="1">
            <a:off x="6766562" y="2751153"/>
            <a:ext cx="3760965" cy="1804944"/>
          </a:xfrm>
          <a:custGeom>
            <a:avLst/>
            <a:gdLst>
              <a:gd name="csX0" fmla="*/ 0 w 2708860"/>
              <a:gd name="csY0" fmla="*/ 0 h 659958"/>
              <a:gd name="csX1" fmla="*/ 1580168 w 2708860"/>
              <a:gd name="csY1" fmla="*/ 0 h 659958"/>
              <a:gd name="csX2" fmla="*/ 3144580 w 2708860"/>
              <a:gd name="csY2" fmla="*/ -504327 h 659958"/>
              <a:gd name="csX3" fmla="*/ 2257383 w 2708860"/>
              <a:gd name="csY3" fmla="*/ 0 h 659958"/>
              <a:gd name="csX4" fmla="*/ 2708860 w 2708860"/>
              <a:gd name="csY4" fmla="*/ 0 h 659958"/>
              <a:gd name="csX5" fmla="*/ 2708860 w 2708860"/>
              <a:gd name="csY5" fmla="*/ 109993 h 659958"/>
              <a:gd name="csX6" fmla="*/ 2708860 w 2708860"/>
              <a:gd name="csY6" fmla="*/ 109993 h 659958"/>
              <a:gd name="csX7" fmla="*/ 2708860 w 2708860"/>
              <a:gd name="csY7" fmla="*/ 274983 h 659958"/>
              <a:gd name="csX8" fmla="*/ 2708860 w 2708860"/>
              <a:gd name="csY8" fmla="*/ 659958 h 659958"/>
              <a:gd name="csX9" fmla="*/ 2257383 w 2708860"/>
              <a:gd name="csY9" fmla="*/ 659958 h 659958"/>
              <a:gd name="csX10" fmla="*/ 1580168 w 2708860"/>
              <a:gd name="csY10" fmla="*/ 659958 h 659958"/>
              <a:gd name="csX11" fmla="*/ 1580168 w 2708860"/>
              <a:gd name="csY11" fmla="*/ 659958 h 659958"/>
              <a:gd name="csX12" fmla="*/ 0 w 2708860"/>
              <a:gd name="csY12" fmla="*/ 659958 h 659958"/>
              <a:gd name="csX13" fmla="*/ 0 w 2708860"/>
              <a:gd name="csY13" fmla="*/ 274983 h 659958"/>
              <a:gd name="csX14" fmla="*/ 0 w 2708860"/>
              <a:gd name="csY14" fmla="*/ 109993 h 659958"/>
              <a:gd name="csX15" fmla="*/ 0 w 2708860"/>
              <a:gd name="csY15" fmla="*/ 109993 h 659958"/>
              <a:gd name="csX16" fmla="*/ 0 w 2708860"/>
              <a:gd name="csY16" fmla="*/ 0 h 659958"/>
              <a:gd name="csX0" fmla="*/ 0 w 3144580"/>
              <a:gd name="csY0" fmla="*/ 504327 h 1442471"/>
              <a:gd name="csX1" fmla="*/ 1580168 w 3144580"/>
              <a:gd name="csY1" fmla="*/ 504327 h 1442471"/>
              <a:gd name="csX2" fmla="*/ 3144580 w 3144580"/>
              <a:gd name="csY2" fmla="*/ 0 h 1442471"/>
              <a:gd name="csX3" fmla="*/ 2257383 w 3144580"/>
              <a:gd name="csY3" fmla="*/ 504327 h 1442471"/>
              <a:gd name="csX4" fmla="*/ 2708860 w 3144580"/>
              <a:gd name="csY4" fmla="*/ 504327 h 1442471"/>
              <a:gd name="csX5" fmla="*/ 2708860 w 3144580"/>
              <a:gd name="csY5" fmla="*/ 614320 h 1442471"/>
              <a:gd name="csX6" fmla="*/ 2708860 w 3144580"/>
              <a:gd name="csY6" fmla="*/ 614320 h 1442471"/>
              <a:gd name="csX7" fmla="*/ 2708860 w 3144580"/>
              <a:gd name="csY7" fmla="*/ 779310 h 1442471"/>
              <a:gd name="csX8" fmla="*/ 2708860 w 3144580"/>
              <a:gd name="csY8" fmla="*/ 1164285 h 1442471"/>
              <a:gd name="csX9" fmla="*/ 2257383 w 3144580"/>
              <a:gd name="csY9" fmla="*/ 1164285 h 1442471"/>
              <a:gd name="csX10" fmla="*/ 2910178 w 3144580"/>
              <a:gd name="csY10" fmla="*/ 1442471 h 1442471"/>
              <a:gd name="csX11" fmla="*/ 1580168 w 3144580"/>
              <a:gd name="csY11" fmla="*/ 1164285 h 1442471"/>
              <a:gd name="csX12" fmla="*/ 1580168 w 3144580"/>
              <a:gd name="csY12" fmla="*/ 1164285 h 1442471"/>
              <a:gd name="csX13" fmla="*/ 0 w 3144580"/>
              <a:gd name="csY13" fmla="*/ 1164285 h 1442471"/>
              <a:gd name="csX14" fmla="*/ 0 w 3144580"/>
              <a:gd name="csY14" fmla="*/ 779310 h 1442471"/>
              <a:gd name="csX15" fmla="*/ 0 w 3144580"/>
              <a:gd name="csY15" fmla="*/ 614320 h 1442471"/>
              <a:gd name="csX16" fmla="*/ 0 w 3144580"/>
              <a:gd name="csY16" fmla="*/ 614320 h 1442471"/>
              <a:gd name="csX17" fmla="*/ 0 w 3144580"/>
              <a:gd name="csY17" fmla="*/ 504327 h 144247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144580" h="1442471">
                <a:moveTo>
                  <a:pt x="0" y="504327"/>
                </a:moveTo>
                <a:lnTo>
                  <a:pt x="1580168" y="504327"/>
                </a:lnTo>
                <a:lnTo>
                  <a:pt x="3144580" y="0"/>
                </a:lnTo>
                <a:lnTo>
                  <a:pt x="2257383" y="504327"/>
                </a:lnTo>
                <a:lnTo>
                  <a:pt x="2708860" y="504327"/>
                </a:lnTo>
                <a:lnTo>
                  <a:pt x="2708860" y="614320"/>
                </a:lnTo>
                <a:lnTo>
                  <a:pt x="2708860" y="614320"/>
                </a:lnTo>
                <a:lnTo>
                  <a:pt x="2708860" y="779310"/>
                </a:lnTo>
                <a:lnTo>
                  <a:pt x="2708860" y="1164285"/>
                </a:lnTo>
                <a:lnTo>
                  <a:pt x="2257383" y="1164285"/>
                </a:lnTo>
                <a:cubicBezTo>
                  <a:pt x="2056213" y="1164248"/>
                  <a:pt x="3111348" y="1442508"/>
                  <a:pt x="2910178" y="1442471"/>
                </a:cubicBezTo>
                <a:lnTo>
                  <a:pt x="1580168" y="1164285"/>
                </a:lnTo>
                <a:lnTo>
                  <a:pt x="1580168" y="1164285"/>
                </a:lnTo>
                <a:lnTo>
                  <a:pt x="0" y="1164285"/>
                </a:lnTo>
                <a:lnTo>
                  <a:pt x="0" y="779310"/>
                </a:lnTo>
                <a:lnTo>
                  <a:pt x="0" y="614320"/>
                </a:lnTo>
                <a:lnTo>
                  <a:pt x="0" y="614320"/>
                </a:lnTo>
                <a:lnTo>
                  <a:pt x="0" y="504327"/>
                </a:lnTo>
                <a:close/>
              </a:path>
            </a:pathLst>
          </a:custGeom>
          <a:ln/>
        </p:spPr>
        <p:style>
          <a:lnRef idx="1">
            <a:schemeClr val="accent4"/>
          </a:lnRef>
          <a:fillRef idx="2">
            <a:schemeClr val="accent4"/>
          </a:fillRef>
          <a:effectRef idx="1">
            <a:schemeClr val="accent4"/>
          </a:effectRef>
          <a:fontRef idx="minor">
            <a:schemeClr val="dk1"/>
          </a:fontRef>
        </p:style>
        <p:txBody>
          <a:bodyPr rtlCol="0" anchor="ctr"/>
          <a:lstStyle/>
          <a:p>
            <a:pPr algn="ctr"/>
            <a:endParaRPr kumimoji="1" lang="en-US" altLang="ja-JP" sz="2400" dirty="0">
              <a:solidFill>
                <a:schemeClr val="tx1"/>
              </a:solidFill>
              <a:latin typeface="A-OTF 中ゴシックBBB Pr6N Med"/>
              <a:ea typeface="A-OTF Gothic BBB Pr6N Medium" panose="020B0400000000000000"/>
            </a:endParaRPr>
          </a:p>
          <a:p>
            <a:pPr algn="ctr"/>
            <a:r>
              <a:rPr kumimoji="1" lang="ja-JP" altLang="en-US" sz="2400" dirty="0">
                <a:solidFill>
                  <a:schemeClr val="tx1"/>
                </a:solidFill>
                <a:latin typeface="A-OTF 中ゴシックBBB Pr6N Med"/>
                <a:ea typeface="A-OTF Gothic BBB Pr6N Medium" panose="020B0400000000000000"/>
              </a:rPr>
              <a:t>もともと電気的に</a:t>
            </a:r>
            <a:endParaRPr kumimoji="1" lang="en-US" altLang="ja-JP" sz="2400" dirty="0">
              <a:solidFill>
                <a:schemeClr val="tx1"/>
              </a:solidFill>
              <a:latin typeface="A-OTF 中ゴシックBBB Pr6N Med"/>
              <a:ea typeface="A-OTF Gothic BBB Pr6N Medium" panose="020B0400000000000000"/>
            </a:endParaRPr>
          </a:p>
          <a:p>
            <a:pPr algn="ctr"/>
            <a:r>
              <a:rPr kumimoji="1" lang="ja-JP" altLang="en-US" sz="2400" dirty="0">
                <a:solidFill>
                  <a:schemeClr val="tx1"/>
                </a:solidFill>
                <a:latin typeface="A-OTF 中ゴシックBBB Pr6N Med"/>
                <a:ea typeface="A-OTF Gothic BBB Pr6N Medium" panose="020B0400000000000000"/>
              </a:rPr>
              <a:t>繋がっている　　　　</a:t>
            </a:r>
          </a:p>
        </p:txBody>
      </p:sp>
      <p:sp>
        <p:nvSpPr>
          <p:cNvPr id="14" name="吹き出し: 四角形 13">
            <a:extLst>
              <a:ext uri="{FF2B5EF4-FFF2-40B4-BE49-F238E27FC236}">
                <a16:creationId xmlns:a16="http://schemas.microsoft.com/office/drawing/2014/main" id="{2119A0FB-8C25-915B-AE92-90D2B09EA09A}"/>
              </a:ext>
            </a:extLst>
          </p:cNvPr>
          <p:cNvSpPr/>
          <p:nvPr/>
        </p:nvSpPr>
        <p:spPr>
          <a:xfrm>
            <a:off x="3317341" y="1362021"/>
            <a:ext cx="4506743" cy="1017453"/>
          </a:xfrm>
          <a:custGeom>
            <a:avLst/>
            <a:gdLst>
              <a:gd name="csX0" fmla="*/ 0 w 2854519"/>
              <a:gd name="csY0" fmla="*/ 0 h 904351"/>
              <a:gd name="csX1" fmla="*/ 475753 w 2854519"/>
              <a:gd name="csY1" fmla="*/ 0 h 904351"/>
              <a:gd name="csX2" fmla="*/ 475753 w 2854519"/>
              <a:gd name="csY2" fmla="*/ 0 h 904351"/>
              <a:gd name="csX3" fmla="*/ 1189383 w 2854519"/>
              <a:gd name="csY3" fmla="*/ 0 h 904351"/>
              <a:gd name="csX4" fmla="*/ 2854519 w 2854519"/>
              <a:gd name="csY4" fmla="*/ 0 h 904351"/>
              <a:gd name="csX5" fmla="*/ 2854519 w 2854519"/>
              <a:gd name="csY5" fmla="*/ 527538 h 904351"/>
              <a:gd name="csX6" fmla="*/ 2854519 w 2854519"/>
              <a:gd name="csY6" fmla="*/ 527538 h 904351"/>
              <a:gd name="csX7" fmla="*/ 2854519 w 2854519"/>
              <a:gd name="csY7" fmla="*/ 753626 h 904351"/>
              <a:gd name="csX8" fmla="*/ 2854519 w 2854519"/>
              <a:gd name="csY8" fmla="*/ 904351 h 904351"/>
              <a:gd name="csX9" fmla="*/ 1189383 w 2854519"/>
              <a:gd name="csY9" fmla="*/ 904351 h 904351"/>
              <a:gd name="csX10" fmla="*/ 475753 w 2854519"/>
              <a:gd name="csY10" fmla="*/ 904351 h 904351"/>
              <a:gd name="csX11" fmla="*/ 475753 w 2854519"/>
              <a:gd name="csY11" fmla="*/ 904351 h 904351"/>
              <a:gd name="csX12" fmla="*/ 0 w 2854519"/>
              <a:gd name="csY12" fmla="*/ 904351 h 904351"/>
              <a:gd name="csX13" fmla="*/ 0 w 2854519"/>
              <a:gd name="csY13" fmla="*/ 753626 h 904351"/>
              <a:gd name="csX14" fmla="*/ -383990 w 2854519"/>
              <a:gd name="csY14" fmla="*/ 1017395 h 904351"/>
              <a:gd name="csX15" fmla="*/ 0 w 2854519"/>
              <a:gd name="csY15" fmla="*/ 527538 h 904351"/>
              <a:gd name="csX16" fmla="*/ 0 w 2854519"/>
              <a:gd name="csY16" fmla="*/ 0 h 904351"/>
              <a:gd name="csX0" fmla="*/ 383990 w 3648005"/>
              <a:gd name="csY0" fmla="*/ 0 h 1017453"/>
              <a:gd name="csX1" fmla="*/ 859743 w 3648005"/>
              <a:gd name="csY1" fmla="*/ 0 h 1017453"/>
              <a:gd name="csX2" fmla="*/ 859743 w 3648005"/>
              <a:gd name="csY2" fmla="*/ 0 h 1017453"/>
              <a:gd name="csX3" fmla="*/ 1573373 w 3648005"/>
              <a:gd name="csY3" fmla="*/ 0 h 1017453"/>
              <a:gd name="csX4" fmla="*/ 3238509 w 3648005"/>
              <a:gd name="csY4" fmla="*/ 0 h 1017453"/>
              <a:gd name="csX5" fmla="*/ 3238509 w 3648005"/>
              <a:gd name="csY5" fmla="*/ 527538 h 1017453"/>
              <a:gd name="csX6" fmla="*/ 3238509 w 3648005"/>
              <a:gd name="csY6" fmla="*/ 527538 h 1017453"/>
              <a:gd name="csX7" fmla="*/ 3648002 w 3648005"/>
              <a:gd name="csY7" fmla="*/ 1017453 h 1017453"/>
              <a:gd name="csX8" fmla="*/ 3238509 w 3648005"/>
              <a:gd name="csY8" fmla="*/ 753626 h 1017453"/>
              <a:gd name="csX9" fmla="*/ 3238509 w 3648005"/>
              <a:gd name="csY9" fmla="*/ 904351 h 1017453"/>
              <a:gd name="csX10" fmla="*/ 1573373 w 3648005"/>
              <a:gd name="csY10" fmla="*/ 904351 h 1017453"/>
              <a:gd name="csX11" fmla="*/ 859743 w 3648005"/>
              <a:gd name="csY11" fmla="*/ 904351 h 1017453"/>
              <a:gd name="csX12" fmla="*/ 859743 w 3648005"/>
              <a:gd name="csY12" fmla="*/ 904351 h 1017453"/>
              <a:gd name="csX13" fmla="*/ 383990 w 3648005"/>
              <a:gd name="csY13" fmla="*/ 904351 h 1017453"/>
              <a:gd name="csX14" fmla="*/ 383990 w 3648005"/>
              <a:gd name="csY14" fmla="*/ 753626 h 1017453"/>
              <a:gd name="csX15" fmla="*/ 0 w 3648005"/>
              <a:gd name="csY15" fmla="*/ 1017395 h 1017453"/>
              <a:gd name="csX16" fmla="*/ 383990 w 3648005"/>
              <a:gd name="csY16" fmla="*/ 527538 h 1017453"/>
              <a:gd name="csX17" fmla="*/ 383990 w 3648005"/>
              <a:gd name="csY17" fmla="*/ 0 h 1017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648005" h="1017453">
                <a:moveTo>
                  <a:pt x="383990" y="0"/>
                </a:moveTo>
                <a:lnTo>
                  <a:pt x="859743" y="0"/>
                </a:lnTo>
                <a:lnTo>
                  <a:pt x="859743" y="0"/>
                </a:lnTo>
                <a:lnTo>
                  <a:pt x="1573373" y="0"/>
                </a:lnTo>
                <a:lnTo>
                  <a:pt x="3238509" y="0"/>
                </a:lnTo>
                <a:lnTo>
                  <a:pt x="3238509" y="527538"/>
                </a:lnTo>
                <a:lnTo>
                  <a:pt x="3238509" y="527538"/>
                </a:lnTo>
                <a:cubicBezTo>
                  <a:pt x="3237184" y="550370"/>
                  <a:pt x="3649327" y="994621"/>
                  <a:pt x="3648002" y="1017453"/>
                </a:cubicBezTo>
                <a:lnTo>
                  <a:pt x="3238509" y="753626"/>
                </a:lnTo>
                <a:lnTo>
                  <a:pt x="3238509" y="904351"/>
                </a:lnTo>
                <a:lnTo>
                  <a:pt x="1573373" y="904351"/>
                </a:lnTo>
                <a:lnTo>
                  <a:pt x="859743" y="904351"/>
                </a:lnTo>
                <a:lnTo>
                  <a:pt x="859743" y="904351"/>
                </a:lnTo>
                <a:lnTo>
                  <a:pt x="383990" y="904351"/>
                </a:lnTo>
                <a:lnTo>
                  <a:pt x="383990" y="753626"/>
                </a:lnTo>
                <a:lnTo>
                  <a:pt x="0" y="1017395"/>
                </a:lnTo>
                <a:lnTo>
                  <a:pt x="383990" y="527538"/>
                </a:lnTo>
                <a:lnTo>
                  <a:pt x="383990" y="0"/>
                </a:lnTo>
                <a:close/>
              </a:path>
            </a:pathLst>
          </a:custGeom>
          <a:ln/>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ja-JP" altLang="en-US" sz="2400" dirty="0">
                <a:solidFill>
                  <a:schemeClr val="tx1"/>
                </a:solidFill>
                <a:latin typeface="Helvetica Neue" panose="02000503000000020004" pitchFamily="2" charset="0"/>
                <a:ea typeface="A-OTF Gothic BBB Pr6N Medium" panose="020B0400000000000000"/>
              </a:rPr>
              <a:t>スイッチを押すと繋がる</a:t>
            </a:r>
          </a:p>
        </p:txBody>
      </p:sp>
    </p:spTree>
    <p:extLst>
      <p:ext uri="{BB962C8B-B14F-4D97-AF65-F5344CB8AC3E}">
        <p14:creationId xmlns:p14="http://schemas.microsoft.com/office/powerpoint/2010/main" val="35060598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CCBF799A-9EB4-4C37-A3F1-2C53431250F3}"/>
            </a:ext>
          </a:extLst>
        </p:cNvPr>
        <p:cNvGrpSpPr/>
        <p:nvPr/>
      </p:nvGrpSpPr>
      <p:grpSpPr>
        <a:xfrm>
          <a:off x="0" y="0"/>
          <a:ext cx="0" cy="0"/>
          <a:chOff x="0" y="0"/>
          <a:chExt cx="0" cy="0"/>
        </a:xfrm>
      </p:grpSpPr>
      <p:sp>
        <p:nvSpPr>
          <p:cNvPr id="85" name="Google Shape;85;p11">
            <a:extLst>
              <a:ext uri="{FF2B5EF4-FFF2-40B4-BE49-F238E27FC236}">
                <a16:creationId xmlns:a16="http://schemas.microsoft.com/office/drawing/2014/main" id="{DEDE67A6-20FF-E39D-810A-EE354910AF5A}"/>
              </a:ext>
            </a:extLst>
          </p:cNvPr>
          <p:cNvSpPr txBox="1">
            <a:spLocks noGrp="1"/>
          </p:cNvSpPr>
          <p:nvPr>
            <p:ph type="title"/>
          </p:nvPr>
        </p:nvSpPr>
        <p:spPr>
          <a:xfrm>
            <a:off x="831850" y="1709738"/>
            <a:ext cx="11461077" cy="2852737"/>
          </a:xfrm>
          <a:noFill/>
          <a:ln>
            <a:noFill/>
          </a:ln>
        </p:spPr>
        <p:txBody>
          <a:bodyPr spcFirstLastPara="1" wrap="square" lIns="91425" tIns="45700" rIns="91425" bIns="45700" anchor="b" anchorCtr="0">
            <a:normAutofit/>
          </a:bodyPr>
          <a:lstStyle/>
          <a:p>
            <a:r>
              <a:rPr lang="en-US" altLang="ja-JP" dirty="0"/>
              <a:t>2</a:t>
            </a:r>
            <a:r>
              <a:rPr lang="en-US" altLang="ja-JP" dirty="0">
                <a:sym typeface="Calibri"/>
              </a:rPr>
              <a:t>. </a:t>
            </a:r>
            <a:r>
              <a:rPr lang="ja-JP" altLang="en-US" dirty="0">
                <a:sym typeface="Calibri"/>
              </a:rPr>
              <a:t>パソコンで環境構築しよう！</a:t>
            </a:r>
            <a:br>
              <a:rPr lang="ja-JP" altLang="en-US" dirty="0">
                <a:sym typeface="Calibri"/>
              </a:rPr>
            </a:br>
            <a:endParaRPr lang="ja-JP" altLang="en-US" dirty="0"/>
          </a:p>
        </p:txBody>
      </p:sp>
      <p:sp>
        <p:nvSpPr>
          <p:cNvPr id="4" name="テキスト プレースホルダー 3">
            <a:extLst>
              <a:ext uri="{FF2B5EF4-FFF2-40B4-BE49-F238E27FC236}">
                <a16:creationId xmlns:a16="http://schemas.microsoft.com/office/drawing/2014/main" id="{D06D5C0F-4F17-A897-AF3B-972784CDCB7D}"/>
              </a:ext>
            </a:extLst>
          </p:cNvPr>
          <p:cNvSpPr>
            <a:spLocks noGrp="1"/>
          </p:cNvSpPr>
          <p:nvPr>
            <p:ph type="body" idx="1"/>
          </p:nvPr>
        </p:nvSpPr>
        <p:spPr/>
        <p:txBody>
          <a:bodyPr/>
          <a:lstStyle/>
          <a:p>
            <a:endParaRPr lang="ja-JP" altLang="en-US"/>
          </a:p>
        </p:txBody>
      </p:sp>
    </p:spTree>
    <p:extLst>
      <p:ext uri="{BB962C8B-B14F-4D97-AF65-F5344CB8AC3E}">
        <p14:creationId xmlns:p14="http://schemas.microsoft.com/office/powerpoint/2010/main" val="2269107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図 9" descr="Avi_Freshers_Welcome_Event_2026&#10;&#10;AI 生成コンテンツは誤りを含む可能性があります。">
            <a:extLst>
              <a:ext uri="{FF2B5EF4-FFF2-40B4-BE49-F238E27FC236}">
                <a16:creationId xmlns:a16="http://schemas.microsoft.com/office/drawing/2014/main" id="{53D75A42-0894-CAA8-7CAA-28822E4C51F6}"/>
              </a:ext>
            </a:extLst>
          </p:cNvPr>
          <p:cNvPicPr>
            <a:picLocks noChangeAspect="1"/>
          </p:cNvPicPr>
          <p:nvPr/>
        </p:nvPicPr>
        <p:blipFill>
          <a:blip r:embed="rId2"/>
          <a:stretch>
            <a:fillRect/>
          </a:stretch>
        </p:blipFill>
        <p:spPr>
          <a:xfrm>
            <a:off x="741512" y="4079630"/>
            <a:ext cx="5634418" cy="2591601"/>
          </a:xfrm>
          <a:prstGeom prst="rect">
            <a:avLst/>
          </a:prstGeom>
        </p:spPr>
      </p:pic>
      <p:sp>
        <p:nvSpPr>
          <p:cNvPr id="3" name="テキスト プレースホルダー 2">
            <a:extLst>
              <a:ext uri="{FF2B5EF4-FFF2-40B4-BE49-F238E27FC236}">
                <a16:creationId xmlns:a16="http://schemas.microsoft.com/office/drawing/2014/main" id="{00EE08EA-1F32-7388-BF0B-69E681149AA5}"/>
              </a:ext>
            </a:extLst>
          </p:cNvPr>
          <p:cNvSpPr>
            <a:spLocks noGrp="1"/>
          </p:cNvSpPr>
          <p:nvPr>
            <p:ph type="body" idx="1"/>
          </p:nvPr>
        </p:nvSpPr>
        <p:spPr>
          <a:xfrm>
            <a:off x="427383" y="1948996"/>
            <a:ext cx="10515600" cy="1978948"/>
          </a:xfrm>
        </p:spPr>
        <p:txBody>
          <a:bodyPr/>
          <a:lstStyle/>
          <a:p>
            <a:r>
              <a:rPr lang="ja-JP" altLang="en-US" dirty="0"/>
              <a:t>下記の</a:t>
            </a:r>
            <a:r>
              <a:rPr lang="en-US" altLang="ja-JP" dirty="0" err="1"/>
              <a:t>github</a:t>
            </a:r>
            <a:r>
              <a:rPr lang="ja-JP" altLang="en-US" dirty="0"/>
              <a:t>にアクセスしてフォルダをダウンロード</a:t>
            </a:r>
            <a:r>
              <a:rPr lang="en-US" altLang="ja-JP" dirty="0"/>
              <a:t>(</a:t>
            </a:r>
            <a:r>
              <a:rPr lang="ja-JP" altLang="en-US" dirty="0"/>
              <a:t>緑色の</a:t>
            </a:r>
            <a:r>
              <a:rPr lang="en-US" altLang="ja-JP" dirty="0"/>
              <a:t>Code</a:t>
            </a:r>
            <a:r>
              <a:rPr lang="ja-JP" altLang="en-US" dirty="0"/>
              <a:t>→</a:t>
            </a:r>
            <a:r>
              <a:rPr lang="en-US" altLang="ja-JP" dirty="0"/>
              <a:t>Download Zip)</a:t>
            </a:r>
          </a:p>
          <a:p>
            <a:r>
              <a:rPr lang="en-US" altLang="ja-JP" dirty="0">
                <a:hlinkClick r:id="rId3"/>
              </a:rPr>
              <a:t>https://github.com/CREATE-ROCKET/Avi_Freshers_Welcome_Event_2026/tree/master</a:t>
            </a:r>
            <a:endParaRPr lang="en-US" altLang="ja-JP" dirty="0"/>
          </a:p>
          <a:p>
            <a:endParaRPr lang="ja-JP" altLang="en-US" dirty="0"/>
          </a:p>
        </p:txBody>
      </p:sp>
      <p:sp>
        <p:nvSpPr>
          <p:cNvPr id="8" name="テキスト プレースホルダー 7">
            <a:extLst>
              <a:ext uri="{FF2B5EF4-FFF2-40B4-BE49-F238E27FC236}">
                <a16:creationId xmlns:a16="http://schemas.microsoft.com/office/drawing/2014/main" id="{82185F23-5CA9-8F35-001E-1D91AEC9C8A6}"/>
              </a:ext>
            </a:extLst>
          </p:cNvPr>
          <p:cNvSpPr>
            <a:spLocks noGrp="1"/>
          </p:cNvSpPr>
          <p:nvPr>
            <p:ph type="body" idx="13"/>
          </p:nvPr>
        </p:nvSpPr>
        <p:spPr>
          <a:xfrm>
            <a:off x="427383" y="1237931"/>
            <a:ext cx="10515600" cy="711064"/>
          </a:xfrm>
        </p:spPr>
        <p:txBody>
          <a:bodyPr/>
          <a:lstStyle/>
          <a:p>
            <a:r>
              <a:rPr lang="ja-JP" altLang="en-US" dirty="0"/>
              <a:t>今日使うコード、このスライドのダウンロード</a:t>
            </a:r>
          </a:p>
        </p:txBody>
      </p:sp>
      <p:sp>
        <p:nvSpPr>
          <p:cNvPr id="5" name="タイトル 4">
            <a:extLst>
              <a:ext uri="{FF2B5EF4-FFF2-40B4-BE49-F238E27FC236}">
                <a16:creationId xmlns:a16="http://schemas.microsoft.com/office/drawing/2014/main" id="{B70786FD-D0D6-57A7-D676-8D7113665AF0}"/>
              </a:ext>
            </a:extLst>
          </p:cNvPr>
          <p:cNvSpPr>
            <a:spLocks noGrp="1"/>
          </p:cNvSpPr>
          <p:nvPr>
            <p:ph type="title"/>
          </p:nvPr>
        </p:nvSpPr>
        <p:spPr>
          <a:xfrm>
            <a:off x="427383" y="266699"/>
            <a:ext cx="8844804" cy="755451"/>
          </a:xfrm>
        </p:spPr>
        <p:txBody>
          <a:bodyPr/>
          <a:lstStyle/>
          <a:p>
            <a:r>
              <a:rPr lang="en-US" altLang="ja-JP" dirty="0"/>
              <a:t>2</a:t>
            </a:r>
            <a:r>
              <a:rPr lang="en-US" altLang="ja-JP" dirty="0">
                <a:sym typeface="Calibri"/>
              </a:rPr>
              <a:t>. </a:t>
            </a:r>
            <a:r>
              <a:rPr lang="ja-JP" altLang="en-US" dirty="0">
                <a:sym typeface="Calibri"/>
              </a:rPr>
              <a:t>パソコンで環境構築しよう！</a:t>
            </a:r>
            <a:endParaRPr lang="ja-JP" altLang="en-US" dirty="0"/>
          </a:p>
        </p:txBody>
      </p:sp>
      <p:sp>
        <p:nvSpPr>
          <p:cNvPr id="2" name="正方形/長方形 1">
            <a:extLst>
              <a:ext uri="{FF2B5EF4-FFF2-40B4-BE49-F238E27FC236}">
                <a16:creationId xmlns:a16="http://schemas.microsoft.com/office/drawing/2014/main" id="{5A77B165-9B19-4296-93D6-B96FF92B3165}"/>
              </a:ext>
            </a:extLst>
          </p:cNvPr>
          <p:cNvSpPr/>
          <p:nvPr/>
        </p:nvSpPr>
        <p:spPr>
          <a:xfrm>
            <a:off x="3804886" y="6270751"/>
            <a:ext cx="840757" cy="196382"/>
          </a:xfrm>
          <a:prstGeom prst="rect">
            <a:avLst/>
          </a:prstGeom>
          <a:noFill/>
          <a:ln>
            <a:solidFill>
              <a:srgbClr val="90BE6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Helvetica Neue" panose="02000503000000020004" pitchFamily="2" charset="0"/>
            </a:endParaRPr>
          </a:p>
        </p:txBody>
      </p:sp>
      <p:sp>
        <p:nvSpPr>
          <p:cNvPr id="7" name="吹き出し: 四角形 12">
            <a:extLst>
              <a:ext uri="{FF2B5EF4-FFF2-40B4-BE49-F238E27FC236}">
                <a16:creationId xmlns:a16="http://schemas.microsoft.com/office/drawing/2014/main" id="{B9136B9D-8828-7574-7B81-FC0034D89EB2}"/>
              </a:ext>
            </a:extLst>
          </p:cNvPr>
          <p:cNvSpPr/>
          <p:nvPr/>
        </p:nvSpPr>
        <p:spPr>
          <a:xfrm>
            <a:off x="5987888" y="5709199"/>
            <a:ext cx="2775005" cy="922277"/>
          </a:xfrm>
          <a:prstGeom prst="wedgeRectCallout">
            <a:avLst>
              <a:gd name="adj1" fmla="val -95886"/>
              <a:gd name="adj2" fmla="val 26893"/>
            </a:avLst>
          </a:prstGeom>
          <a:solidFill>
            <a:srgbClr val="C9E3AC"/>
          </a:solidFill>
          <a:ln w="38100">
            <a:solidFill>
              <a:srgbClr val="90BE6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800">
                <a:solidFill>
                  <a:schemeClr val="tx1"/>
                </a:solidFill>
                <a:latin typeface="A-OTF Gothic BBB Pr6N Medium" panose="020B0400000000000000" pitchFamily="34" charset="-128"/>
                <a:ea typeface="A-OTF Gothic BBB Pr6N Medium" panose="020B0400000000000000" pitchFamily="34" charset="-128"/>
              </a:rPr>
              <a:t>押す</a:t>
            </a:r>
            <a:endParaRPr kumimoji="1" lang="ja-JP" altLang="en-US" sz="1800" dirty="0">
              <a:solidFill>
                <a:schemeClr val="tx1"/>
              </a:solidFill>
              <a:latin typeface="A-OTF Gothic BBB Pr6N Medium" panose="020B0400000000000000" pitchFamily="34" charset="-128"/>
              <a:ea typeface="A-OTF Gothic BBB Pr6N Medium" panose="020B0400000000000000" pitchFamily="34" charset="-128"/>
            </a:endParaRPr>
          </a:p>
        </p:txBody>
      </p:sp>
    </p:spTree>
    <p:extLst>
      <p:ext uri="{BB962C8B-B14F-4D97-AF65-F5344CB8AC3E}">
        <p14:creationId xmlns:p14="http://schemas.microsoft.com/office/powerpoint/2010/main" val="3992640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B0F68C-5FE6-6A39-8988-5D13C7D7F932}"/>
              </a:ext>
            </a:extLst>
          </p:cNvPr>
          <p:cNvSpPr>
            <a:spLocks noGrp="1"/>
          </p:cNvSpPr>
          <p:nvPr>
            <p:ph type="title"/>
          </p:nvPr>
        </p:nvSpPr>
        <p:spPr/>
        <p:txBody>
          <a:bodyPr>
            <a:normAutofit/>
          </a:bodyPr>
          <a:lstStyle/>
          <a:p>
            <a:r>
              <a:rPr lang="en-US" altLang="ja-JP" dirty="0"/>
              <a:t>Visual Studio code</a:t>
            </a:r>
            <a:r>
              <a:rPr lang="ja-JP" altLang="en-US" dirty="0"/>
              <a:t>をインストール</a:t>
            </a:r>
            <a:endParaRPr kumimoji="1" lang="ja-JP" altLang="en-US" dirty="0"/>
          </a:p>
        </p:txBody>
      </p:sp>
      <p:sp>
        <p:nvSpPr>
          <p:cNvPr id="4" name="テキスト ボックス 3">
            <a:extLst>
              <a:ext uri="{FF2B5EF4-FFF2-40B4-BE49-F238E27FC236}">
                <a16:creationId xmlns:a16="http://schemas.microsoft.com/office/drawing/2014/main" id="{4D93A5D2-5523-26DB-0E35-23C8EE17A62A}"/>
              </a:ext>
            </a:extLst>
          </p:cNvPr>
          <p:cNvSpPr txBox="1"/>
          <p:nvPr/>
        </p:nvSpPr>
        <p:spPr>
          <a:xfrm>
            <a:off x="-417096" y="1572126"/>
            <a:ext cx="8037096" cy="830997"/>
          </a:xfrm>
          <a:prstGeom prst="rect">
            <a:avLst/>
          </a:prstGeom>
          <a:noFill/>
        </p:spPr>
        <p:txBody>
          <a:bodyPr wrap="square" rtlCol="0">
            <a:spAutoFit/>
          </a:bodyPr>
          <a:lstStyle/>
          <a:p>
            <a:pPr algn="ctr"/>
            <a:r>
              <a:rPr lang="ja-JP" altLang="en-US" sz="2400" dirty="0"/>
              <a:t>まずはリンク先からダウンロード（</a:t>
            </a:r>
            <a:r>
              <a:rPr lang="en-US" altLang="ja-JP" sz="2400" dirty="0"/>
              <a:t>windows</a:t>
            </a:r>
            <a:r>
              <a:rPr lang="ja-JP" altLang="en-US" sz="2400" dirty="0"/>
              <a:t>用）</a:t>
            </a:r>
            <a:endParaRPr lang="en-US" altLang="ja-JP" sz="2400" dirty="0"/>
          </a:p>
          <a:p>
            <a:pPr algn="ctr"/>
            <a:r>
              <a:rPr kumimoji="1" lang="ja-JP" altLang="en-US" sz="2400" dirty="0"/>
              <a:t>↓</a:t>
            </a:r>
          </a:p>
        </p:txBody>
      </p:sp>
      <p:sp>
        <p:nvSpPr>
          <p:cNvPr id="5" name="テキスト ボックス 4">
            <a:extLst>
              <a:ext uri="{FF2B5EF4-FFF2-40B4-BE49-F238E27FC236}">
                <a16:creationId xmlns:a16="http://schemas.microsoft.com/office/drawing/2014/main" id="{AC16847A-5174-53C5-23D8-42ED22C42041}"/>
              </a:ext>
            </a:extLst>
          </p:cNvPr>
          <p:cNvSpPr txBox="1"/>
          <p:nvPr/>
        </p:nvSpPr>
        <p:spPr>
          <a:xfrm>
            <a:off x="978569" y="2666953"/>
            <a:ext cx="6144126" cy="584775"/>
          </a:xfrm>
          <a:prstGeom prst="rect">
            <a:avLst/>
          </a:prstGeom>
          <a:noFill/>
        </p:spPr>
        <p:txBody>
          <a:bodyPr wrap="square" rtlCol="0">
            <a:spAutoFit/>
          </a:bodyPr>
          <a:lstStyle/>
          <a:p>
            <a:r>
              <a:rPr kumimoji="1" lang="en-US" altLang="ja-JP" sz="3200" dirty="0">
                <a:hlinkClick r:id="rId2"/>
              </a:rPr>
              <a:t>https://code.visualstudio.com/</a:t>
            </a:r>
            <a:endParaRPr kumimoji="1" lang="ja-JP" altLang="en-US" sz="3200" dirty="0"/>
          </a:p>
        </p:txBody>
      </p:sp>
      <p:pic>
        <p:nvPicPr>
          <p:cNvPr id="7" name="図 6">
            <a:extLst>
              <a:ext uri="{FF2B5EF4-FFF2-40B4-BE49-F238E27FC236}">
                <a16:creationId xmlns:a16="http://schemas.microsoft.com/office/drawing/2014/main" id="{2C8DA7F5-85F9-67BF-21FD-7E99FDF732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2695" y="1171074"/>
            <a:ext cx="4640179" cy="5354053"/>
          </a:xfrm>
          <a:prstGeom prst="rect">
            <a:avLst/>
          </a:prstGeom>
        </p:spPr>
      </p:pic>
      <p:sp>
        <p:nvSpPr>
          <p:cNvPr id="8" name="矢印: 右 7">
            <a:extLst>
              <a:ext uri="{FF2B5EF4-FFF2-40B4-BE49-F238E27FC236}">
                <a16:creationId xmlns:a16="http://schemas.microsoft.com/office/drawing/2014/main" id="{6563AFB5-112D-8F32-CCB0-4006739421B5}"/>
              </a:ext>
            </a:extLst>
          </p:cNvPr>
          <p:cNvSpPr/>
          <p:nvPr/>
        </p:nvSpPr>
        <p:spPr>
          <a:xfrm>
            <a:off x="6769769" y="2342510"/>
            <a:ext cx="1074821" cy="5847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B00A3E55-9FAC-148F-213C-C0CF3940367E}"/>
              </a:ext>
            </a:extLst>
          </p:cNvPr>
          <p:cNvSpPr txBox="1"/>
          <p:nvPr/>
        </p:nvSpPr>
        <p:spPr>
          <a:xfrm>
            <a:off x="649704" y="5678905"/>
            <a:ext cx="5903495" cy="646331"/>
          </a:xfrm>
          <a:prstGeom prst="rect">
            <a:avLst/>
          </a:prstGeom>
          <a:noFill/>
        </p:spPr>
        <p:txBody>
          <a:bodyPr wrap="square" rtlCol="0">
            <a:spAutoFit/>
          </a:bodyPr>
          <a:lstStyle/>
          <a:p>
            <a:r>
              <a:rPr lang="ja-JP" altLang="en-US" dirty="0"/>
              <a:t>参考サイト：</a:t>
            </a:r>
            <a:endParaRPr lang="en-US" altLang="ja-JP" dirty="0"/>
          </a:p>
          <a:p>
            <a:r>
              <a:rPr kumimoji="1" lang="en-US" altLang="ja-JP" dirty="0">
                <a:hlinkClick r:id="rId4"/>
              </a:rPr>
              <a:t>https://www602.math.ryukoku.ac.jp/Prog1/vscode-win.html</a:t>
            </a:r>
            <a:endParaRPr kumimoji="1" lang="ja-JP" altLang="en-US" dirty="0"/>
          </a:p>
        </p:txBody>
      </p:sp>
      <p:pic>
        <p:nvPicPr>
          <p:cNvPr id="11" name="図 10">
            <a:extLst>
              <a:ext uri="{FF2B5EF4-FFF2-40B4-BE49-F238E27FC236}">
                <a16:creationId xmlns:a16="http://schemas.microsoft.com/office/drawing/2014/main" id="{47B6279E-C0C9-1A90-A8C3-86FD495526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71257" y="282601"/>
            <a:ext cx="577516" cy="577516"/>
          </a:xfrm>
          <a:prstGeom prst="rect">
            <a:avLst/>
          </a:prstGeom>
        </p:spPr>
      </p:pic>
    </p:spTree>
    <p:extLst>
      <p:ext uri="{BB962C8B-B14F-4D97-AF65-F5344CB8AC3E}">
        <p14:creationId xmlns:p14="http://schemas.microsoft.com/office/powerpoint/2010/main" val="1961618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FB0F68C-5FE6-6A39-8988-5D13C7D7F932}"/>
              </a:ext>
            </a:extLst>
          </p:cNvPr>
          <p:cNvSpPr>
            <a:spLocks noGrp="1"/>
          </p:cNvSpPr>
          <p:nvPr>
            <p:ph type="title"/>
          </p:nvPr>
        </p:nvSpPr>
        <p:spPr/>
        <p:txBody>
          <a:bodyPr>
            <a:normAutofit/>
          </a:bodyPr>
          <a:lstStyle/>
          <a:p>
            <a:r>
              <a:rPr lang="en-US" altLang="ja-JP" dirty="0"/>
              <a:t>Visual Studio code</a:t>
            </a:r>
            <a:r>
              <a:rPr lang="ja-JP" altLang="en-US" dirty="0"/>
              <a:t>をインストール</a:t>
            </a:r>
            <a:endParaRPr kumimoji="1" lang="ja-JP" altLang="en-US" dirty="0"/>
          </a:p>
        </p:txBody>
      </p:sp>
      <p:pic>
        <p:nvPicPr>
          <p:cNvPr id="11" name="図 10">
            <a:extLst>
              <a:ext uri="{FF2B5EF4-FFF2-40B4-BE49-F238E27FC236}">
                <a16:creationId xmlns:a16="http://schemas.microsoft.com/office/drawing/2014/main" id="{47B6279E-C0C9-1A90-A8C3-86FD495526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0778" y="266699"/>
            <a:ext cx="577516" cy="577516"/>
          </a:xfrm>
          <a:prstGeom prst="rect">
            <a:avLst/>
          </a:prstGeom>
        </p:spPr>
      </p:pic>
      <p:sp>
        <p:nvSpPr>
          <p:cNvPr id="3" name="テキスト ボックス 2">
            <a:extLst>
              <a:ext uri="{FF2B5EF4-FFF2-40B4-BE49-F238E27FC236}">
                <a16:creationId xmlns:a16="http://schemas.microsoft.com/office/drawing/2014/main" id="{0E45AB4B-FC91-4930-29F2-B95A17DD229F}"/>
              </a:ext>
            </a:extLst>
          </p:cNvPr>
          <p:cNvSpPr txBox="1"/>
          <p:nvPr/>
        </p:nvSpPr>
        <p:spPr>
          <a:xfrm>
            <a:off x="649705" y="1368123"/>
            <a:ext cx="11542295" cy="523220"/>
          </a:xfrm>
          <a:prstGeom prst="rect">
            <a:avLst/>
          </a:prstGeom>
          <a:noFill/>
        </p:spPr>
        <p:txBody>
          <a:bodyPr wrap="square" rtlCol="0">
            <a:spAutoFit/>
          </a:bodyPr>
          <a:lstStyle/>
          <a:p>
            <a:r>
              <a:rPr lang="ja-JP" altLang="en-US" sz="2800" dirty="0"/>
              <a:t>ダウンロードしたインストーラーを実行し、手順に沿って進めていく </a:t>
            </a:r>
            <a:endParaRPr kumimoji="1" lang="ja-JP" altLang="en-US" sz="2800" dirty="0"/>
          </a:p>
        </p:txBody>
      </p:sp>
      <p:pic>
        <p:nvPicPr>
          <p:cNvPr id="19" name="図 18">
            <a:extLst>
              <a:ext uri="{FF2B5EF4-FFF2-40B4-BE49-F238E27FC236}">
                <a16:creationId xmlns:a16="http://schemas.microsoft.com/office/drawing/2014/main" id="{A6F21644-2176-F898-30BF-AE08B169BD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902" y="2003638"/>
            <a:ext cx="5695950" cy="4419600"/>
          </a:xfrm>
          <a:prstGeom prst="rect">
            <a:avLst/>
          </a:prstGeom>
        </p:spPr>
      </p:pic>
      <p:sp>
        <p:nvSpPr>
          <p:cNvPr id="20" name="テキスト ボックス 19">
            <a:extLst>
              <a:ext uri="{FF2B5EF4-FFF2-40B4-BE49-F238E27FC236}">
                <a16:creationId xmlns:a16="http://schemas.microsoft.com/office/drawing/2014/main" id="{25FBE79A-8EA0-67A9-5F22-573E282CED40}"/>
              </a:ext>
            </a:extLst>
          </p:cNvPr>
          <p:cNvSpPr txBox="1"/>
          <p:nvPr/>
        </p:nvSpPr>
        <p:spPr>
          <a:xfrm>
            <a:off x="6593305" y="2582779"/>
            <a:ext cx="5325979" cy="2554545"/>
          </a:xfrm>
          <a:prstGeom prst="rect">
            <a:avLst/>
          </a:prstGeom>
          <a:noFill/>
        </p:spPr>
        <p:txBody>
          <a:bodyPr wrap="square" rtlCol="0">
            <a:spAutoFit/>
          </a:bodyPr>
          <a:lstStyle/>
          <a:p>
            <a:r>
              <a:rPr lang="ja-JP" altLang="en-US" sz="3200" dirty="0"/>
              <a:t>・追加タスクを選択 </a:t>
            </a:r>
            <a:endParaRPr lang="en-US" altLang="ja-JP" sz="3200" dirty="0"/>
          </a:p>
          <a:p>
            <a:pPr>
              <a:lnSpc>
                <a:spcPct val="200000"/>
              </a:lnSpc>
            </a:pPr>
            <a:r>
              <a:rPr lang="ja-JP" altLang="en-US" sz="3200" dirty="0"/>
              <a:t>✓ </a:t>
            </a:r>
            <a:r>
              <a:rPr lang="en-US" altLang="ja-JP" sz="3200" dirty="0"/>
              <a:t>Path</a:t>
            </a:r>
            <a:r>
              <a:rPr lang="ja-JP" altLang="en-US" sz="3200" dirty="0"/>
              <a:t>への追加 </a:t>
            </a:r>
            <a:endParaRPr lang="en-US" altLang="ja-JP" sz="3200" dirty="0"/>
          </a:p>
          <a:p>
            <a:r>
              <a:rPr lang="ja-JP" altLang="en-US" sz="3200" dirty="0"/>
              <a:t>✓ デスクトップ上にアイコンを</a:t>
            </a:r>
            <a:endParaRPr lang="en-US" altLang="ja-JP" sz="3200" dirty="0"/>
          </a:p>
          <a:p>
            <a:r>
              <a:rPr lang="ja-JP" altLang="en-US" sz="3200" dirty="0"/>
              <a:t>　　作成する </a:t>
            </a:r>
            <a:endParaRPr kumimoji="1" lang="ja-JP" altLang="en-US" sz="3200" dirty="0"/>
          </a:p>
        </p:txBody>
      </p:sp>
    </p:spTree>
    <p:extLst>
      <p:ext uri="{BB962C8B-B14F-4D97-AF65-F5344CB8AC3E}">
        <p14:creationId xmlns:p14="http://schemas.microsoft.com/office/powerpoint/2010/main" val="2241186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6AA6F70-377F-67CE-B809-AF91DB9F580C}"/>
              </a:ext>
            </a:extLst>
          </p:cNvPr>
          <p:cNvSpPr>
            <a:spLocks noGrp="1"/>
          </p:cNvSpPr>
          <p:nvPr>
            <p:ph type="title"/>
          </p:nvPr>
        </p:nvSpPr>
        <p:spPr/>
        <p:txBody>
          <a:bodyPr/>
          <a:lstStyle/>
          <a:p>
            <a:r>
              <a:rPr lang="en-US" altLang="ja-JP" dirty="0" err="1"/>
              <a:t>PlatformIO</a:t>
            </a:r>
            <a:r>
              <a:rPr lang="en-US" altLang="ja-JP" dirty="0"/>
              <a:t> IDE</a:t>
            </a:r>
            <a:r>
              <a:rPr lang="ja-JP" altLang="en-US" dirty="0"/>
              <a:t>をインストール</a:t>
            </a:r>
            <a:endParaRPr kumimoji="1" lang="ja-JP" altLang="en-US" dirty="0"/>
          </a:p>
        </p:txBody>
      </p:sp>
      <p:pic>
        <p:nvPicPr>
          <p:cNvPr id="5" name="図 4">
            <a:extLst>
              <a:ext uri="{FF2B5EF4-FFF2-40B4-BE49-F238E27FC236}">
                <a16:creationId xmlns:a16="http://schemas.microsoft.com/office/drawing/2014/main" id="{BD644719-66D7-985A-72B9-64F018E623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375" y="1618750"/>
            <a:ext cx="7650249" cy="4252661"/>
          </a:xfrm>
          <a:prstGeom prst="rect">
            <a:avLst/>
          </a:prstGeom>
        </p:spPr>
      </p:pic>
      <p:sp>
        <p:nvSpPr>
          <p:cNvPr id="6" name="テキスト ボックス 5">
            <a:extLst>
              <a:ext uri="{FF2B5EF4-FFF2-40B4-BE49-F238E27FC236}">
                <a16:creationId xmlns:a16="http://schemas.microsoft.com/office/drawing/2014/main" id="{E4BE8155-E8E5-1C56-8AB5-987301D8501E}"/>
              </a:ext>
            </a:extLst>
          </p:cNvPr>
          <p:cNvSpPr txBox="1"/>
          <p:nvPr/>
        </p:nvSpPr>
        <p:spPr>
          <a:xfrm>
            <a:off x="8101263" y="1723116"/>
            <a:ext cx="4379496" cy="3411768"/>
          </a:xfrm>
          <a:prstGeom prst="rect">
            <a:avLst/>
          </a:prstGeom>
          <a:noFill/>
        </p:spPr>
        <p:txBody>
          <a:bodyPr wrap="square" rtlCol="0">
            <a:spAutoFit/>
          </a:bodyPr>
          <a:lstStyle/>
          <a:p>
            <a:pPr marL="342900" indent="-342900">
              <a:lnSpc>
                <a:spcPct val="200000"/>
              </a:lnSpc>
              <a:buFont typeface="+mj-lt"/>
              <a:buAutoNum type="arabicPeriod"/>
            </a:pPr>
            <a:r>
              <a:rPr lang="en-US" altLang="ja-JP" sz="2800" dirty="0" err="1"/>
              <a:t>Vscode</a:t>
            </a:r>
            <a:r>
              <a:rPr lang="ja-JP" altLang="en-US" sz="2800" dirty="0"/>
              <a:t>を起動 </a:t>
            </a:r>
            <a:endParaRPr lang="en-US" altLang="ja-JP" sz="2800" dirty="0"/>
          </a:p>
          <a:p>
            <a:pPr marL="342900" indent="-342900">
              <a:lnSpc>
                <a:spcPct val="200000"/>
              </a:lnSpc>
              <a:buFont typeface="+mj-lt"/>
              <a:buAutoNum type="arabicPeriod"/>
            </a:pPr>
            <a:r>
              <a:rPr lang="en-US" altLang="ja-JP" sz="2800" dirty="0"/>
              <a:t> </a:t>
            </a:r>
            <a:r>
              <a:rPr lang="ja-JP" altLang="en-US" sz="2800" dirty="0"/>
              <a:t>左タブの拡張能を選択</a:t>
            </a:r>
            <a:endParaRPr lang="en-US" altLang="ja-JP" sz="2800" dirty="0"/>
          </a:p>
          <a:p>
            <a:pPr marL="342900" indent="-342900">
              <a:lnSpc>
                <a:spcPct val="200000"/>
              </a:lnSpc>
              <a:buFont typeface="+mj-lt"/>
              <a:buAutoNum type="arabicPeriod"/>
            </a:pPr>
            <a:r>
              <a:rPr lang="en-US" altLang="ja-JP" sz="2800" dirty="0"/>
              <a:t> </a:t>
            </a:r>
            <a:r>
              <a:rPr lang="en-US" altLang="ja-JP" sz="2800" dirty="0" err="1"/>
              <a:t>platformIO</a:t>
            </a:r>
            <a:r>
              <a:rPr lang="ja-JP" altLang="en-US" sz="2800" dirty="0"/>
              <a:t>と検索 </a:t>
            </a:r>
            <a:endParaRPr lang="en-US" altLang="ja-JP" sz="2800" dirty="0"/>
          </a:p>
          <a:p>
            <a:pPr marL="342900" indent="-342900">
              <a:lnSpc>
                <a:spcPct val="200000"/>
              </a:lnSpc>
              <a:buFont typeface="+mj-lt"/>
              <a:buAutoNum type="arabicPeriod"/>
            </a:pPr>
            <a:r>
              <a:rPr lang="en-US" altLang="ja-JP" sz="2800" dirty="0"/>
              <a:t> Install</a:t>
            </a:r>
            <a:r>
              <a:rPr lang="ja-JP" altLang="en-US" sz="2800" dirty="0"/>
              <a:t>をクリック </a:t>
            </a:r>
            <a:endParaRPr kumimoji="1" lang="ja-JP" altLang="en-US" sz="2800" dirty="0"/>
          </a:p>
        </p:txBody>
      </p:sp>
      <p:sp>
        <p:nvSpPr>
          <p:cNvPr id="7" name="楕円 6">
            <a:extLst>
              <a:ext uri="{FF2B5EF4-FFF2-40B4-BE49-F238E27FC236}">
                <a16:creationId xmlns:a16="http://schemas.microsoft.com/office/drawing/2014/main" id="{B399381F-6088-F3D9-3F85-E3683AB48C60}"/>
              </a:ext>
            </a:extLst>
          </p:cNvPr>
          <p:cNvSpPr/>
          <p:nvPr/>
        </p:nvSpPr>
        <p:spPr>
          <a:xfrm>
            <a:off x="238375" y="3942039"/>
            <a:ext cx="371225" cy="449179"/>
          </a:xfrm>
          <a:prstGeom prst="ellipse">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ja-JP" altLang="en-US"/>
          </a:p>
        </p:txBody>
      </p:sp>
    </p:spTree>
    <p:extLst>
      <p:ext uri="{BB962C8B-B14F-4D97-AF65-F5344CB8AC3E}">
        <p14:creationId xmlns:p14="http://schemas.microsoft.com/office/powerpoint/2010/main" val="2247908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1881F0-D9FF-B790-DF4B-884C9AF5DD20}"/>
              </a:ext>
            </a:extLst>
          </p:cNvPr>
          <p:cNvSpPr>
            <a:spLocks noGrp="1"/>
          </p:cNvSpPr>
          <p:nvPr>
            <p:ph type="title"/>
          </p:nvPr>
        </p:nvSpPr>
        <p:spPr/>
        <p:txBody>
          <a:bodyPr/>
          <a:lstStyle/>
          <a:p>
            <a:r>
              <a:rPr lang="ja-JP" altLang="en-US" dirty="0"/>
              <a:t>プロジェクト作成</a:t>
            </a:r>
            <a:endParaRPr kumimoji="1" lang="ja-JP" altLang="en-US" dirty="0"/>
          </a:p>
        </p:txBody>
      </p:sp>
      <p:pic>
        <p:nvPicPr>
          <p:cNvPr id="5" name="図 4">
            <a:extLst>
              <a:ext uri="{FF2B5EF4-FFF2-40B4-BE49-F238E27FC236}">
                <a16:creationId xmlns:a16="http://schemas.microsoft.com/office/drawing/2014/main" id="{2DC95FE8-8709-C422-AAE0-9B4F9B7B8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0" y="1363544"/>
            <a:ext cx="10911840" cy="4130911"/>
          </a:xfrm>
          <a:prstGeom prst="rect">
            <a:avLst/>
          </a:prstGeom>
        </p:spPr>
      </p:pic>
      <p:sp>
        <p:nvSpPr>
          <p:cNvPr id="6" name="テキスト ボックス 5">
            <a:extLst>
              <a:ext uri="{FF2B5EF4-FFF2-40B4-BE49-F238E27FC236}">
                <a16:creationId xmlns:a16="http://schemas.microsoft.com/office/drawing/2014/main" id="{B920118F-143F-9304-A767-AFF9DF17E190}"/>
              </a:ext>
            </a:extLst>
          </p:cNvPr>
          <p:cNvSpPr txBox="1"/>
          <p:nvPr/>
        </p:nvSpPr>
        <p:spPr>
          <a:xfrm>
            <a:off x="1899920" y="5835848"/>
            <a:ext cx="9652000" cy="584775"/>
          </a:xfrm>
          <a:prstGeom prst="rect">
            <a:avLst/>
          </a:prstGeom>
          <a:noFill/>
        </p:spPr>
        <p:txBody>
          <a:bodyPr wrap="square" rtlCol="0">
            <a:spAutoFit/>
          </a:bodyPr>
          <a:lstStyle/>
          <a:p>
            <a:r>
              <a:rPr lang="en-US" altLang="ja-JP" sz="3200" dirty="0"/>
              <a:t>PIO Home</a:t>
            </a:r>
            <a:r>
              <a:rPr lang="ja-JP" altLang="en-US" sz="3200" dirty="0"/>
              <a:t>が開く → </a:t>
            </a:r>
            <a:r>
              <a:rPr lang="en-US" altLang="ja-JP" sz="3200" dirty="0"/>
              <a:t>+New Project</a:t>
            </a:r>
            <a:r>
              <a:rPr lang="ja-JP" altLang="en-US" sz="3200" dirty="0"/>
              <a:t>を選択 </a:t>
            </a:r>
            <a:endParaRPr kumimoji="1" lang="ja-JP" altLang="en-US" sz="3200" dirty="0"/>
          </a:p>
        </p:txBody>
      </p:sp>
    </p:spTree>
    <p:extLst>
      <p:ext uri="{BB962C8B-B14F-4D97-AF65-F5344CB8AC3E}">
        <p14:creationId xmlns:p14="http://schemas.microsoft.com/office/powerpoint/2010/main" val="170668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7F5DCE-F965-B7B2-6A35-6C0955419F7A}"/>
              </a:ext>
            </a:extLst>
          </p:cNvPr>
          <p:cNvSpPr>
            <a:spLocks noGrp="1"/>
          </p:cNvSpPr>
          <p:nvPr>
            <p:ph type="title"/>
          </p:nvPr>
        </p:nvSpPr>
        <p:spPr/>
        <p:txBody>
          <a:bodyPr/>
          <a:lstStyle/>
          <a:p>
            <a:r>
              <a:rPr lang="ja-JP" altLang="en-US" dirty="0"/>
              <a:t>プログラム実行の流れ</a:t>
            </a:r>
            <a:endParaRPr kumimoji="1" lang="ja-JP" altLang="en-US" dirty="0"/>
          </a:p>
        </p:txBody>
      </p:sp>
      <p:pic>
        <p:nvPicPr>
          <p:cNvPr id="7" name="図 6">
            <a:extLst>
              <a:ext uri="{FF2B5EF4-FFF2-40B4-BE49-F238E27FC236}">
                <a16:creationId xmlns:a16="http://schemas.microsoft.com/office/drawing/2014/main" id="{3499ED3A-180E-4E97-5C7F-2A8829056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5249" y="1525842"/>
            <a:ext cx="7653084" cy="1254761"/>
          </a:xfrm>
          <a:prstGeom prst="rect">
            <a:avLst/>
          </a:prstGeom>
        </p:spPr>
      </p:pic>
      <p:sp>
        <p:nvSpPr>
          <p:cNvPr id="9" name="テキスト ボックス 8">
            <a:extLst>
              <a:ext uri="{FF2B5EF4-FFF2-40B4-BE49-F238E27FC236}">
                <a16:creationId xmlns:a16="http://schemas.microsoft.com/office/drawing/2014/main" id="{E2A7CA73-B7CB-6DD5-AF23-EAA526BB496A}"/>
              </a:ext>
            </a:extLst>
          </p:cNvPr>
          <p:cNvSpPr txBox="1"/>
          <p:nvPr/>
        </p:nvSpPr>
        <p:spPr>
          <a:xfrm>
            <a:off x="276153" y="1249566"/>
            <a:ext cx="4741119" cy="5632311"/>
          </a:xfrm>
          <a:prstGeom prst="rect">
            <a:avLst/>
          </a:prstGeom>
          <a:noFill/>
        </p:spPr>
        <p:txBody>
          <a:bodyPr wrap="square" rtlCol="0">
            <a:spAutoFit/>
          </a:bodyPr>
          <a:lstStyle/>
          <a:p>
            <a:r>
              <a:rPr lang="ja-JP" altLang="en-US" sz="2400" dirty="0"/>
              <a:t>今回使う操作</a:t>
            </a:r>
            <a:endParaRPr lang="en-US" altLang="ja-JP" sz="2400" dirty="0"/>
          </a:p>
          <a:p>
            <a:r>
              <a:rPr lang="ja-JP" altLang="en-US" sz="2400" dirty="0"/>
              <a:t>①</a:t>
            </a:r>
            <a:r>
              <a:rPr lang="en-US" altLang="ja-JP" sz="2400" dirty="0"/>
              <a:t>Build </a:t>
            </a:r>
          </a:p>
          <a:p>
            <a:r>
              <a:rPr lang="ja-JP" altLang="en-US" sz="1800" dirty="0"/>
              <a:t>　　・ソースファイル（</a:t>
            </a:r>
            <a:r>
              <a:rPr lang="en-US" altLang="ja-JP" sz="1800" dirty="0"/>
              <a:t>.</a:t>
            </a:r>
            <a:r>
              <a:rPr lang="en-US" altLang="ja-JP" sz="1800" dirty="0" err="1"/>
              <a:t>cpp</a:t>
            </a:r>
            <a:r>
              <a:rPr lang="ja-JP" altLang="en-US" sz="1800" dirty="0"/>
              <a:t>）から </a:t>
            </a:r>
            <a:endParaRPr lang="en-US" altLang="ja-JP" sz="1800" dirty="0"/>
          </a:p>
          <a:p>
            <a:r>
              <a:rPr lang="ja-JP" altLang="en-US" sz="1800" dirty="0"/>
              <a:t>　　  実行ファイルを生成 </a:t>
            </a:r>
            <a:endParaRPr lang="en-US" altLang="ja-JP" sz="1800" dirty="0"/>
          </a:p>
          <a:p>
            <a:r>
              <a:rPr lang="ja-JP" altLang="en-US" sz="1800" dirty="0"/>
              <a:t>　　・プリプロセス、コンパイル、 </a:t>
            </a:r>
            <a:endParaRPr lang="en-US" altLang="ja-JP" sz="1800" dirty="0"/>
          </a:p>
          <a:p>
            <a:r>
              <a:rPr lang="ja-JP" altLang="en-US" sz="1800" dirty="0"/>
              <a:t>　　  アセンブル、リンク等の処理を</a:t>
            </a:r>
            <a:endParaRPr lang="en-US" altLang="ja-JP" sz="1800" dirty="0"/>
          </a:p>
          <a:p>
            <a:r>
              <a:rPr lang="en-US" altLang="ja-JP" sz="1800" dirty="0"/>
              <a:t>        </a:t>
            </a:r>
            <a:r>
              <a:rPr lang="ja-JP" altLang="en-US" sz="1800" dirty="0"/>
              <a:t>含む</a:t>
            </a:r>
            <a:endParaRPr lang="en-US" altLang="ja-JP" sz="1800" dirty="0"/>
          </a:p>
          <a:p>
            <a:endParaRPr lang="en-US" altLang="ja-JP" sz="1800" dirty="0"/>
          </a:p>
          <a:p>
            <a:r>
              <a:rPr lang="ja-JP" altLang="en-US" sz="1800" dirty="0"/>
              <a:t> </a:t>
            </a:r>
            <a:r>
              <a:rPr lang="ja-JP" altLang="en-US" sz="2400" dirty="0"/>
              <a:t>②</a:t>
            </a:r>
            <a:r>
              <a:rPr lang="en-US" altLang="ja-JP" sz="2400" dirty="0"/>
              <a:t>Upload </a:t>
            </a:r>
          </a:p>
          <a:p>
            <a:r>
              <a:rPr lang="ja-JP" altLang="en-US" sz="1800" dirty="0"/>
              <a:t>　　・実行ファイルをマイコンボード  </a:t>
            </a:r>
            <a:endParaRPr lang="en-US" altLang="ja-JP" sz="1800" dirty="0"/>
          </a:p>
          <a:p>
            <a:r>
              <a:rPr lang="ja-JP" altLang="en-US" sz="1800" dirty="0"/>
              <a:t>　　  に書き込む</a:t>
            </a:r>
            <a:endParaRPr lang="en-US" altLang="ja-JP" sz="2400" dirty="0"/>
          </a:p>
          <a:p>
            <a:r>
              <a:rPr lang="ja-JP" altLang="en-US" sz="1800" dirty="0"/>
              <a:t>　　・</a:t>
            </a:r>
            <a:r>
              <a:rPr lang="en-US" altLang="ja-JP" sz="1800" dirty="0"/>
              <a:t>Build</a:t>
            </a:r>
            <a:r>
              <a:rPr lang="ja-JP" altLang="en-US" sz="1800" dirty="0"/>
              <a:t>も含まれるため、書き込むとき</a:t>
            </a:r>
            <a:endParaRPr lang="en-US" altLang="ja-JP" sz="1800" dirty="0"/>
          </a:p>
          <a:p>
            <a:r>
              <a:rPr lang="ja-JP" altLang="en-US" sz="1800" dirty="0"/>
              <a:t>　　  はここを押すだけで良い</a:t>
            </a:r>
            <a:endParaRPr lang="en-US" altLang="ja-JP" sz="1800" dirty="0"/>
          </a:p>
          <a:p>
            <a:endParaRPr lang="en-US" altLang="ja-JP" sz="1800" dirty="0"/>
          </a:p>
          <a:p>
            <a:r>
              <a:rPr kumimoji="1" lang="en-US" altLang="ja-JP" sz="2400" dirty="0"/>
              <a:t>③Project Environment </a:t>
            </a:r>
            <a:r>
              <a:rPr kumimoji="1" lang="ja-JP" altLang="en-US" sz="2400" dirty="0"/>
              <a:t>　　　</a:t>
            </a:r>
            <a:endParaRPr kumimoji="1" lang="en-US" altLang="ja-JP" sz="2400" dirty="0"/>
          </a:p>
          <a:p>
            <a:r>
              <a:rPr kumimoji="1" lang="ja-JP" altLang="en-US" sz="2400" dirty="0"/>
              <a:t>　</a:t>
            </a:r>
            <a:r>
              <a:rPr kumimoji="1" lang="en-US" altLang="ja-JP" sz="2400" dirty="0"/>
              <a:t> Switcher</a:t>
            </a:r>
          </a:p>
          <a:p>
            <a:r>
              <a:rPr kumimoji="1" lang="en-US" altLang="ja-JP" sz="2400" dirty="0"/>
              <a:t>    </a:t>
            </a:r>
            <a:r>
              <a:rPr lang="ja-JP" altLang="en-US" sz="1800" dirty="0"/>
              <a:t>・</a:t>
            </a:r>
            <a:r>
              <a:rPr kumimoji="1" lang="ja-JP" altLang="en-US" sz="1800" dirty="0"/>
              <a:t>これが今開いているフォルダに</a:t>
            </a:r>
            <a:r>
              <a:rPr kumimoji="1" lang="en-US" altLang="ja-JP" sz="1800" dirty="0"/>
              <a:t>  </a:t>
            </a:r>
          </a:p>
          <a:p>
            <a:r>
              <a:rPr kumimoji="1" lang="en-US" altLang="ja-JP" sz="1800" dirty="0"/>
              <a:t>        </a:t>
            </a:r>
            <a:r>
              <a:rPr kumimoji="1" lang="ja-JP" altLang="en-US" sz="1800" dirty="0"/>
              <a:t>なってないと書き込み時エラー起きる</a:t>
            </a:r>
          </a:p>
        </p:txBody>
      </p:sp>
      <p:pic>
        <p:nvPicPr>
          <p:cNvPr id="11" name="図 10">
            <a:extLst>
              <a:ext uri="{FF2B5EF4-FFF2-40B4-BE49-F238E27FC236}">
                <a16:creationId xmlns:a16="http://schemas.microsoft.com/office/drawing/2014/main" id="{85867FF9-A707-9406-1FC0-9856E3F8D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5537" y="3047798"/>
            <a:ext cx="7395411" cy="2326210"/>
          </a:xfrm>
          <a:prstGeom prst="rect">
            <a:avLst/>
          </a:prstGeom>
        </p:spPr>
      </p:pic>
      <p:sp>
        <p:nvSpPr>
          <p:cNvPr id="12" name="テキスト ボックス 11">
            <a:extLst>
              <a:ext uri="{FF2B5EF4-FFF2-40B4-BE49-F238E27FC236}">
                <a16:creationId xmlns:a16="http://schemas.microsoft.com/office/drawing/2014/main" id="{3A9E571D-9272-C49A-A13E-404D4193BE6D}"/>
              </a:ext>
            </a:extLst>
          </p:cNvPr>
          <p:cNvSpPr txBox="1"/>
          <p:nvPr/>
        </p:nvSpPr>
        <p:spPr>
          <a:xfrm>
            <a:off x="4804610" y="5684210"/>
            <a:ext cx="6577263" cy="369332"/>
          </a:xfrm>
          <a:prstGeom prst="rect">
            <a:avLst/>
          </a:prstGeom>
          <a:noFill/>
        </p:spPr>
        <p:txBody>
          <a:bodyPr wrap="square" rtlCol="0">
            <a:spAutoFit/>
          </a:bodyPr>
          <a:lstStyle/>
          <a:p>
            <a:r>
              <a:rPr lang="ja-JP" altLang="en-US" dirty="0"/>
              <a:t>引用先： </a:t>
            </a:r>
            <a:r>
              <a:rPr lang="en-US" altLang="ja-JP" dirty="0"/>
              <a:t>https://monozukuri-c.com/langc-funclist-build/</a:t>
            </a:r>
            <a:endParaRPr kumimoji="1" lang="ja-JP" altLang="en-US" dirty="0"/>
          </a:p>
        </p:txBody>
      </p:sp>
    </p:spTree>
    <p:extLst>
      <p:ext uri="{BB962C8B-B14F-4D97-AF65-F5344CB8AC3E}">
        <p14:creationId xmlns:p14="http://schemas.microsoft.com/office/powerpoint/2010/main" val="1661847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B1F5131D-1D3C-A322-1D58-378FB514D10E}"/>
              </a:ext>
            </a:extLst>
          </p:cNvPr>
          <p:cNvSpPr>
            <a:spLocks noGrp="1"/>
          </p:cNvSpPr>
          <p:nvPr>
            <p:ph type="body" idx="1"/>
          </p:nvPr>
        </p:nvSpPr>
        <p:spPr>
          <a:xfrm>
            <a:off x="427383" y="1948996"/>
            <a:ext cx="10515600" cy="4515304"/>
          </a:xfrm>
        </p:spPr>
        <p:txBody>
          <a:bodyPr/>
          <a:lstStyle/>
          <a:p>
            <a:r>
              <a:rPr lang="en-US" altLang="ja-JP" dirty="0"/>
              <a:t>setup(): </a:t>
            </a:r>
            <a:r>
              <a:rPr lang="ja-JP" altLang="en-US" dirty="0"/>
              <a:t>プログラム実行時に最初に１回だけ実装される</a:t>
            </a:r>
            <a:endParaRPr lang="en-US" altLang="ja-JP" dirty="0"/>
          </a:p>
          <a:p>
            <a:r>
              <a:rPr lang="en-US" altLang="ja-JP" dirty="0"/>
              <a:t>loop(): </a:t>
            </a:r>
            <a:r>
              <a:rPr lang="ja-JP" altLang="en-US" dirty="0"/>
              <a:t>プログラムを実行すると括弧の内側に書いたコードが上から順に実行され、一番下まで行くとまた上にもどってずっと繰り返される</a:t>
            </a:r>
            <a:endParaRPr lang="en-US" altLang="ja-JP" dirty="0"/>
          </a:p>
        </p:txBody>
      </p:sp>
      <p:sp>
        <p:nvSpPr>
          <p:cNvPr id="9" name="テキスト プレースホルダー 8">
            <a:extLst>
              <a:ext uri="{FF2B5EF4-FFF2-40B4-BE49-F238E27FC236}">
                <a16:creationId xmlns:a16="http://schemas.microsoft.com/office/drawing/2014/main" id="{7821AF32-CFE5-309F-B532-77B464E6FEB8}"/>
              </a:ext>
            </a:extLst>
          </p:cNvPr>
          <p:cNvSpPr>
            <a:spLocks noGrp="1"/>
          </p:cNvSpPr>
          <p:nvPr>
            <p:ph type="body" idx="13"/>
          </p:nvPr>
        </p:nvSpPr>
        <p:spPr>
          <a:xfrm>
            <a:off x="427383" y="1237931"/>
            <a:ext cx="10515600" cy="711064"/>
          </a:xfrm>
        </p:spPr>
        <p:txBody>
          <a:bodyPr/>
          <a:lstStyle/>
          <a:p>
            <a:r>
              <a:rPr lang="en-US" altLang="ja-JP" dirty="0"/>
              <a:t>#include&lt;Arduino.h&gt;</a:t>
            </a:r>
            <a:r>
              <a:rPr lang="ja-JP" altLang="en-US" dirty="0"/>
              <a:t>の関数</a:t>
            </a:r>
            <a:endParaRPr lang="en-US" altLang="ja-JP" dirty="0"/>
          </a:p>
        </p:txBody>
      </p:sp>
      <p:sp>
        <p:nvSpPr>
          <p:cNvPr id="2" name="タイトル 1">
            <a:extLst>
              <a:ext uri="{FF2B5EF4-FFF2-40B4-BE49-F238E27FC236}">
                <a16:creationId xmlns:a16="http://schemas.microsoft.com/office/drawing/2014/main" id="{9B06379F-C8D3-D31C-7DCF-D5114441F2F5}"/>
              </a:ext>
            </a:extLst>
          </p:cNvPr>
          <p:cNvSpPr>
            <a:spLocks noGrp="1"/>
          </p:cNvSpPr>
          <p:nvPr>
            <p:ph type="title"/>
          </p:nvPr>
        </p:nvSpPr>
        <p:spPr>
          <a:xfrm>
            <a:off x="427383" y="266699"/>
            <a:ext cx="8844804" cy="755451"/>
          </a:xfrm>
        </p:spPr>
        <p:txBody>
          <a:bodyPr/>
          <a:lstStyle/>
          <a:p>
            <a:r>
              <a:rPr lang="en-US" altLang="ja-JP" dirty="0"/>
              <a:t>2</a:t>
            </a:r>
            <a:r>
              <a:rPr lang="en-US" altLang="ja-JP" dirty="0">
                <a:sym typeface="Calibri"/>
              </a:rPr>
              <a:t>. </a:t>
            </a:r>
            <a:r>
              <a:rPr lang="ja-JP" altLang="en-US" dirty="0">
                <a:sym typeface="Calibri"/>
              </a:rPr>
              <a:t>パソコンで環境構築しよう！</a:t>
            </a:r>
            <a:endParaRPr lang="ja-JP" altLang="en-US" dirty="0"/>
          </a:p>
        </p:txBody>
      </p:sp>
      <p:pic>
        <p:nvPicPr>
          <p:cNvPr id="6" name="図 5" descr="The provided text is a snippet of an Arduino C++ code that is responsible for blinking an LED connected to pin 16 on an Arduino board.&#10;&#10;AI 生成コンテンツは誤りを含む可能性があります。">
            <a:extLst>
              <a:ext uri="{FF2B5EF4-FFF2-40B4-BE49-F238E27FC236}">
                <a16:creationId xmlns:a16="http://schemas.microsoft.com/office/drawing/2014/main" id="{65B0B2DD-673D-5FE3-857F-1414E71AFFA7}"/>
              </a:ext>
            </a:extLst>
          </p:cNvPr>
          <p:cNvPicPr>
            <a:picLocks noChangeAspect="1"/>
          </p:cNvPicPr>
          <p:nvPr/>
        </p:nvPicPr>
        <p:blipFill>
          <a:blip r:embed="rId2"/>
          <a:stretch>
            <a:fillRect/>
          </a:stretch>
        </p:blipFill>
        <p:spPr>
          <a:xfrm>
            <a:off x="6766560" y="3896311"/>
            <a:ext cx="4557668" cy="2809745"/>
          </a:xfrm>
          <a:prstGeom prst="rect">
            <a:avLst/>
          </a:prstGeom>
        </p:spPr>
      </p:pic>
      <p:pic>
        <p:nvPicPr>
          <p:cNvPr id="8" name="図 7" descr="The provided text appears to be a snippet of code from a C++ Arduino project, specifically the `main.cpp` file, which includes the necessary header file and contains the `setup` and `loop` functions that are part of the Arduino environment.&#10;&#10;AI 生成コンテンツは誤りを含む可能性があります。">
            <a:extLst>
              <a:ext uri="{FF2B5EF4-FFF2-40B4-BE49-F238E27FC236}">
                <a16:creationId xmlns:a16="http://schemas.microsoft.com/office/drawing/2014/main" id="{2AA7F479-AA8A-CA0F-D3FA-F914F65363A6}"/>
              </a:ext>
            </a:extLst>
          </p:cNvPr>
          <p:cNvPicPr>
            <a:picLocks noChangeAspect="1"/>
          </p:cNvPicPr>
          <p:nvPr/>
        </p:nvPicPr>
        <p:blipFill>
          <a:blip r:embed="rId3"/>
          <a:stretch>
            <a:fillRect/>
          </a:stretch>
        </p:blipFill>
        <p:spPr>
          <a:xfrm>
            <a:off x="938253" y="3896311"/>
            <a:ext cx="3972571" cy="2489143"/>
          </a:xfrm>
          <a:prstGeom prst="rect">
            <a:avLst/>
          </a:prstGeom>
        </p:spPr>
      </p:pic>
    </p:spTree>
    <p:extLst>
      <p:ext uri="{BB962C8B-B14F-4D97-AF65-F5344CB8AC3E}">
        <p14:creationId xmlns:p14="http://schemas.microsoft.com/office/powerpoint/2010/main" val="829215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B72EA2FF-291A-3B24-04FD-241AFFFF7566}"/>
              </a:ext>
            </a:extLst>
          </p:cNvPr>
          <p:cNvSpPr>
            <a:spLocks noGrp="1"/>
          </p:cNvSpPr>
          <p:nvPr>
            <p:ph type="title"/>
          </p:nvPr>
        </p:nvSpPr>
        <p:spPr>
          <a:xfrm>
            <a:off x="427383" y="266699"/>
            <a:ext cx="8844804" cy="755451"/>
          </a:xfrm>
        </p:spPr>
        <p:txBody>
          <a:bodyPr/>
          <a:lstStyle/>
          <a:p>
            <a:r>
              <a:rPr lang="ja-JP" altLang="en-US" dirty="0"/>
              <a:t>補</a:t>
            </a:r>
            <a:r>
              <a:rPr lang="en-US" altLang="ja-JP" dirty="0"/>
              <a:t>. </a:t>
            </a:r>
            <a:r>
              <a:rPr lang="ja-JP" altLang="en-US" dirty="0"/>
              <a:t>今回の開発の取り組み方</a:t>
            </a:r>
            <a:endParaRPr lang="en-US" altLang="ja-JP" dirty="0"/>
          </a:p>
        </p:txBody>
      </p:sp>
      <p:sp>
        <p:nvSpPr>
          <p:cNvPr id="5" name="テキスト プレースホルダー 4">
            <a:extLst>
              <a:ext uri="{FF2B5EF4-FFF2-40B4-BE49-F238E27FC236}">
                <a16:creationId xmlns:a16="http://schemas.microsoft.com/office/drawing/2014/main" id="{15F1B862-7394-4885-D3C7-EF13E4F42AF5}"/>
              </a:ext>
            </a:extLst>
          </p:cNvPr>
          <p:cNvSpPr>
            <a:spLocks noGrp="1"/>
          </p:cNvSpPr>
          <p:nvPr>
            <p:ph type="body" idx="1"/>
          </p:nvPr>
        </p:nvSpPr>
        <p:spPr>
          <a:xfrm>
            <a:off x="427037" y="1487488"/>
            <a:ext cx="11024441" cy="4976812"/>
          </a:xfrm>
        </p:spPr>
        <p:txBody>
          <a:bodyPr>
            <a:normAutofit/>
          </a:bodyPr>
          <a:lstStyle/>
          <a:p>
            <a:pPr marL="628650" indent="-514350">
              <a:buFont typeface="+mj-lt"/>
              <a:buAutoNum type="arabicPeriod"/>
            </a:pPr>
            <a:r>
              <a:rPr lang="ja-JP" altLang="en-US" dirty="0"/>
              <a:t>ミッションごとに目標が与えられているのでそれを実装してみよう！</a:t>
            </a:r>
            <a:endParaRPr lang="en-US" altLang="ja-JP" dirty="0"/>
          </a:p>
          <a:p>
            <a:pPr marL="628650" indent="-514350">
              <a:buFont typeface="+mj-lt"/>
              <a:buAutoNum type="arabicPeriod"/>
            </a:pPr>
            <a:r>
              <a:rPr lang="en-US" altLang="ja-JP" dirty="0"/>
              <a:t>GitHub</a:t>
            </a:r>
            <a:r>
              <a:rPr lang="ja-JP" altLang="en-US" dirty="0"/>
              <a:t>からダウンロードした</a:t>
            </a:r>
            <a:r>
              <a:rPr lang="en-US" altLang="ja-JP" dirty="0"/>
              <a:t>Sample</a:t>
            </a:r>
            <a:r>
              <a:rPr lang="ja-JP" altLang="en-US" dirty="0"/>
              <a:t>フォルダの中にある、各ミッションのサンプルコードに沿って、コードを書く。</a:t>
            </a:r>
            <a:endParaRPr lang="en-US" altLang="ja-JP" dirty="0"/>
          </a:p>
          <a:p>
            <a:pPr marL="628650" indent="-514350">
              <a:buFont typeface="+mj-lt"/>
              <a:buAutoNum type="arabicPeriod"/>
            </a:pPr>
            <a:r>
              <a:rPr lang="ja-JP" altLang="en-US" dirty="0"/>
              <a:t>ヒントを見てもわからなかったら電装班員に聞く</a:t>
            </a:r>
            <a:r>
              <a:rPr lang="en-US" altLang="ja-JP" dirty="0"/>
              <a:t>or </a:t>
            </a:r>
            <a:r>
              <a:rPr lang="en-US" altLang="ja-JP" dirty="0" err="1"/>
              <a:t>Github</a:t>
            </a:r>
            <a:r>
              <a:rPr lang="ja-JP" altLang="en-US" dirty="0"/>
              <a:t>からダウンロードした</a:t>
            </a:r>
            <a:r>
              <a:rPr lang="en-US" altLang="ja-JP" dirty="0"/>
              <a:t>Answer</a:t>
            </a:r>
            <a:r>
              <a:rPr lang="ja-JP" altLang="en-US" dirty="0"/>
              <a:t>フォルダ内のコードを見てみる。</a:t>
            </a:r>
            <a:endParaRPr lang="en-US" altLang="ja-JP" dirty="0"/>
          </a:p>
          <a:p>
            <a:pPr marL="628650" indent="-514350">
              <a:buFont typeface="+mj-lt"/>
              <a:buAutoNum type="arabicPeriod"/>
            </a:pPr>
            <a:r>
              <a:rPr lang="ja-JP" altLang="en-US" dirty="0"/>
              <a:t>電子工作をやるのが初めての人は徐々につかんでいこう！</a:t>
            </a:r>
            <a:endParaRPr lang="en-US" altLang="ja-JP" dirty="0"/>
          </a:p>
          <a:p>
            <a:pPr marL="628650" indent="-514350">
              <a:buFont typeface="+mj-lt"/>
              <a:buAutoNum type="arabicPeriod"/>
            </a:pPr>
            <a:r>
              <a:rPr lang="ja-JP" altLang="en-US" dirty="0"/>
              <a:t>できたら、追加のミッションもあるので進めていこう！</a:t>
            </a:r>
            <a:endParaRPr lang="en-US" altLang="ja-JP" dirty="0"/>
          </a:p>
          <a:p>
            <a:pPr marL="114300" indent="0">
              <a:buNone/>
            </a:pPr>
            <a:endParaRPr lang="en-US" altLang="ja-JP" dirty="0"/>
          </a:p>
          <a:p>
            <a:pPr marL="114300" indent="0">
              <a:buNone/>
            </a:pPr>
            <a:r>
              <a:rPr lang="ja-JP" altLang="en-US" b="1" dirty="0">
                <a:solidFill>
                  <a:srgbClr val="90BE6D"/>
                </a:solidFill>
              </a:rPr>
              <a:t>わからないことがあったら何でも電装班の人にきいてください！</a:t>
            </a:r>
          </a:p>
        </p:txBody>
      </p:sp>
    </p:spTree>
    <p:extLst>
      <p:ext uri="{BB962C8B-B14F-4D97-AF65-F5344CB8AC3E}">
        <p14:creationId xmlns:p14="http://schemas.microsoft.com/office/powerpoint/2010/main" val="1247559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12E64-4610-5670-833C-26D9E8191C52}"/>
            </a:ext>
          </a:extLst>
        </p:cNvPr>
        <p:cNvGrpSpPr/>
        <p:nvPr/>
      </p:nvGrpSpPr>
      <p:grpSpPr>
        <a:xfrm>
          <a:off x="0" y="0"/>
          <a:ext cx="0" cy="0"/>
          <a:chOff x="0" y="0"/>
          <a:chExt cx="0" cy="0"/>
        </a:xfrm>
      </p:grpSpPr>
      <p:sp>
        <p:nvSpPr>
          <p:cNvPr id="5" name="テキスト プレースホルダー 4">
            <a:extLst>
              <a:ext uri="{FF2B5EF4-FFF2-40B4-BE49-F238E27FC236}">
                <a16:creationId xmlns:a16="http://schemas.microsoft.com/office/drawing/2014/main" id="{A5A54B3A-85CD-7AB9-CF26-0C6A7349D474}"/>
              </a:ext>
            </a:extLst>
          </p:cNvPr>
          <p:cNvSpPr>
            <a:spLocks noGrp="1"/>
          </p:cNvSpPr>
          <p:nvPr>
            <p:ph type="body" idx="1"/>
          </p:nvPr>
        </p:nvSpPr>
        <p:spPr>
          <a:xfrm>
            <a:off x="427383" y="1948996"/>
            <a:ext cx="10515600" cy="4515304"/>
          </a:xfrm>
        </p:spPr>
        <p:txBody>
          <a:bodyPr>
            <a:normAutofit/>
          </a:bodyPr>
          <a:lstStyle/>
          <a:p>
            <a:pPr>
              <a:lnSpc>
                <a:spcPct val="120000"/>
              </a:lnSpc>
            </a:pPr>
            <a:r>
              <a:rPr lang="ja-JP" altLang="en-US" dirty="0"/>
              <a:t>コードは基本的に上から下に実行される</a:t>
            </a:r>
            <a:endParaRPr lang="en-US" altLang="ja-JP" dirty="0"/>
          </a:p>
          <a:p>
            <a:pPr>
              <a:lnSpc>
                <a:spcPct val="120000"/>
              </a:lnSpc>
            </a:pPr>
            <a:r>
              <a:rPr lang="en-US" altLang="ja-JP" dirty="0"/>
              <a:t>loop()</a:t>
            </a:r>
            <a:r>
              <a:rPr lang="ja-JP" altLang="en-US" dirty="0"/>
              <a:t>文や</a:t>
            </a:r>
            <a:r>
              <a:rPr lang="en-US" altLang="ja-JP" dirty="0"/>
              <a:t>for</a:t>
            </a:r>
            <a:r>
              <a:rPr lang="ja-JP" altLang="en-US" dirty="0"/>
              <a:t>文は一番下の</a:t>
            </a:r>
            <a:r>
              <a:rPr lang="en-US" altLang="ja-JP" dirty="0"/>
              <a:t>}</a:t>
            </a:r>
            <a:r>
              <a:rPr lang="ja-JP" altLang="en-US" dirty="0"/>
              <a:t>までくると上の</a:t>
            </a:r>
            <a:r>
              <a:rPr lang="en-US" altLang="ja-JP" dirty="0"/>
              <a:t>{</a:t>
            </a:r>
            <a:r>
              <a:rPr lang="ja-JP" altLang="en-US" dirty="0"/>
              <a:t>まで戻る</a:t>
            </a:r>
            <a:endParaRPr lang="en-US" altLang="ja-JP" dirty="0"/>
          </a:p>
          <a:p>
            <a:pPr>
              <a:lnSpc>
                <a:spcPct val="120000"/>
              </a:lnSpc>
            </a:pPr>
            <a:r>
              <a:rPr lang="en-US" altLang="ja-JP" dirty="0"/>
              <a:t>Arduino</a:t>
            </a:r>
            <a:r>
              <a:rPr lang="ja-JP" altLang="en-US" dirty="0"/>
              <a:t>で使う</a:t>
            </a:r>
            <a:r>
              <a:rPr lang="en-US" altLang="ja-JP" dirty="0"/>
              <a:t>C/C++</a:t>
            </a:r>
            <a:r>
              <a:rPr lang="ja-JP" altLang="en-US" dirty="0"/>
              <a:t>言語では文の最後に</a:t>
            </a:r>
            <a:r>
              <a:rPr lang="en-US" altLang="ja-JP" dirty="0"/>
              <a:t>”;”</a:t>
            </a:r>
            <a:r>
              <a:rPr lang="ja-JP" altLang="en-US" dirty="0"/>
              <a:t>を書かないといけない（</a:t>
            </a:r>
            <a:r>
              <a:rPr lang="en-US" altLang="ja-JP" dirty="0"/>
              <a:t>if</a:t>
            </a:r>
            <a:r>
              <a:rPr lang="ja-JP" altLang="en-US" dirty="0"/>
              <a:t>文など</a:t>
            </a:r>
            <a:r>
              <a:rPr lang="en-US" altLang="ja-JP" dirty="0"/>
              <a:t>{}</a:t>
            </a:r>
            <a:r>
              <a:rPr lang="ja-JP" altLang="en-US" dirty="0"/>
              <a:t>のつくものは除く）</a:t>
            </a:r>
            <a:endParaRPr lang="en-US" altLang="ja-JP" dirty="0"/>
          </a:p>
          <a:p>
            <a:pPr>
              <a:lnSpc>
                <a:spcPct val="120000"/>
              </a:lnSpc>
            </a:pPr>
            <a:r>
              <a:rPr lang="en-US" altLang="ja-JP" dirty="0"/>
              <a:t>{}</a:t>
            </a:r>
            <a:r>
              <a:rPr lang="ja-JP" altLang="en-US" dirty="0"/>
              <a:t>内で変数を定義すると、</a:t>
            </a:r>
            <a:r>
              <a:rPr lang="en-US" altLang="ja-JP" dirty="0"/>
              <a:t>{}</a:t>
            </a:r>
            <a:r>
              <a:rPr lang="ja-JP" altLang="en-US" dirty="0"/>
              <a:t>の外では使えない</a:t>
            </a:r>
            <a:endParaRPr lang="en-US" altLang="ja-JP" dirty="0"/>
          </a:p>
        </p:txBody>
      </p:sp>
      <p:sp>
        <p:nvSpPr>
          <p:cNvPr id="10" name="テキスト プレースホルダー 9">
            <a:extLst>
              <a:ext uri="{FF2B5EF4-FFF2-40B4-BE49-F238E27FC236}">
                <a16:creationId xmlns:a16="http://schemas.microsoft.com/office/drawing/2014/main" id="{FC6AFE0A-24AF-44FC-4F17-D064DC3D07B0}"/>
              </a:ext>
            </a:extLst>
          </p:cNvPr>
          <p:cNvSpPr>
            <a:spLocks noGrp="1"/>
          </p:cNvSpPr>
          <p:nvPr>
            <p:ph type="body" idx="13"/>
          </p:nvPr>
        </p:nvSpPr>
        <p:spPr>
          <a:xfrm>
            <a:off x="427383" y="1237931"/>
            <a:ext cx="10515600" cy="711064"/>
          </a:xfrm>
        </p:spPr>
        <p:txBody>
          <a:bodyPr/>
          <a:lstStyle/>
          <a:p>
            <a:r>
              <a:rPr lang="ja-JP" altLang="en-US" dirty="0">
                <a:solidFill>
                  <a:schemeClr val="accent6"/>
                </a:solidFill>
              </a:rPr>
              <a:t>プログラミングの基本</a:t>
            </a:r>
          </a:p>
        </p:txBody>
      </p:sp>
      <p:sp>
        <p:nvSpPr>
          <p:cNvPr id="4" name="タイトル 3">
            <a:extLst>
              <a:ext uri="{FF2B5EF4-FFF2-40B4-BE49-F238E27FC236}">
                <a16:creationId xmlns:a16="http://schemas.microsoft.com/office/drawing/2014/main" id="{D955C3B2-7A03-C685-BECC-51EFC63E0C66}"/>
              </a:ext>
            </a:extLst>
          </p:cNvPr>
          <p:cNvSpPr>
            <a:spLocks noGrp="1"/>
          </p:cNvSpPr>
          <p:nvPr>
            <p:ph type="title"/>
          </p:nvPr>
        </p:nvSpPr>
        <p:spPr>
          <a:xfrm>
            <a:off x="427383" y="266699"/>
            <a:ext cx="8844804" cy="755451"/>
          </a:xfrm>
        </p:spPr>
        <p:txBody>
          <a:bodyPr/>
          <a:lstStyle/>
          <a:p>
            <a:r>
              <a:rPr lang="en-US" altLang="ja-JP" dirty="0"/>
              <a:t>LED</a:t>
            </a:r>
            <a:r>
              <a:rPr lang="ja-JP" altLang="en-US" dirty="0"/>
              <a:t>をピカピカ光らせよう</a:t>
            </a:r>
          </a:p>
        </p:txBody>
      </p:sp>
    </p:spTree>
    <p:extLst>
      <p:ext uri="{BB962C8B-B14F-4D97-AF65-F5344CB8AC3E}">
        <p14:creationId xmlns:p14="http://schemas.microsoft.com/office/powerpoint/2010/main" val="1037888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E6D3D-5A2A-C63D-2E0A-A4EE6F9F361A}"/>
            </a:ext>
          </a:extLst>
        </p:cNvPr>
        <p:cNvGrpSpPr/>
        <p:nvPr/>
      </p:nvGrpSpPr>
      <p:grpSpPr>
        <a:xfrm>
          <a:off x="0" y="0"/>
          <a:ext cx="0" cy="0"/>
          <a:chOff x="0" y="0"/>
          <a:chExt cx="0" cy="0"/>
        </a:xfrm>
      </p:grpSpPr>
      <p:sp>
        <p:nvSpPr>
          <p:cNvPr id="5" name="テキスト プレースホルダー 4">
            <a:extLst>
              <a:ext uri="{FF2B5EF4-FFF2-40B4-BE49-F238E27FC236}">
                <a16:creationId xmlns:a16="http://schemas.microsoft.com/office/drawing/2014/main" id="{65A2D6F5-BBB8-F177-C56D-9D5D86E3EC77}"/>
              </a:ext>
            </a:extLst>
          </p:cNvPr>
          <p:cNvSpPr>
            <a:spLocks noGrp="1"/>
          </p:cNvSpPr>
          <p:nvPr>
            <p:ph type="body" idx="1"/>
          </p:nvPr>
        </p:nvSpPr>
        <p:spPr>
          <a:xfrm>
            <a:off x="427383" y="1948996"/>
            <a:ext cx="10515600" cy="4515304"/>
          </a:xfrm>
        </p:spPr>
        <p:txBody>
          <a:bodyPr>
            <a:normAutofit fontScale="92500" lnSpcReduction="20000"/>
          </a:bodyPr>
          <a:lstStyle/>
          <a:p>
            <a:pPr>
              <a:lnSpc>
                <a:spcPct val="120000"/>
              </a:lnSpc>
            </a:pPr>
            <a:r>
              <a:rPr lang="en-US" altLang="ja-JP" dirty="0"/>
              <a:t>#define </a:t>
            </a:r>
            <a:r>
              <a:rPr lang="ja-JP" altLang="en-US" dirty="0"/>
              <a:t>好きな名前 文字列：</a:t>
            </a:r>
            <a:r>
              <a:rPr lang="ja-JP" altLang="en-US" dirty="0">
                <a:solidFill>
                  <a:schemeClr val="tx2">
                    <a:lumMod val="75000"/>
                  </a:schemeClr>
                </a:solidFill>
              </a:rPr>
              <a:t>下のコードで設定した名前を打つと指定した文字列として認識する（数学の定数的な考え方）</a:t>
            </a:r>
            <a:endParaRPr lang="en-US" altLang="ja-JP" dirty="0">
              <a:solidFill>
                <a:schemeClr val="tx2">
                  <a:lumMod val="75000"/>
                </a:schemeClr>
              </a:solidFill>
            </a:endParaRPr>
          </a:p>
          <a:p>
            <a:pPr marL="114300" indent="0">
              <a:lnSpc>
                <a:spcPct val="120000"/>
              </a:lnSpc>
              <a:buNone/>
            </a:pPr>
            <a:r>
              <a:rPr lang="ja-JP" altLang="en-US" dirty="0">
                <a:solidFill>
                  <a:schemeClr val="tx2">
                    <a:lumMod val="75000"/>
                  </a:schemeClr>
                </a:solidFill>
              </a:rPr>
              <a:t>　→これで</a:t>
            </a:r>
            <a:r>
              <a:rPr lang="en-US" altLang="ja-JP" dirty="0">
                <a:solidFill>
                  <a:schemeClr val="tx2">
                    <a:lumMod val="75000"/>
                  </a:schemeClr>
                </a:solidFill>
              </a:rPr>
              <a:t>LED</a:t>
            </a:r>
            <a:r>
              <a:rPr lang="ja-JP" altLang="en-US" dirty="0">
                <a:solidFill>
                  <a:schemeClr val="tx2">
                    <a:lumMod val="75000"/>
                  </a:schemeClr>
                </a:solidFill>
              </a:rPr>
              <a:t>のピン番号を指定しよう</a:t>
            </a:r>
            <a:endParaRPr lang="en-US" altLang="ja-JP" dirty="0">
              <a:solidFill>
                <a:schemeClr val="tx2">
                  <a:lumMod val="75000"/>
                </a:schemeClr>
              </a:solidFill>
            </a:endParaRPr>
          </a:p>
          <a:p>
            <a:pPr>
              <a:lnSpc>
                <a:spcPct val="120000"/>
              </a:lnSpc>
            </a:pPr>
            <a:r>
              <a:rPr lang="en-US" altLang="ja-JP" dirty="0" err="1"/>
              <a:t>pinMode</a:t>
            </a:r>
            <a:r>
              <a:rPr lang="en-US" altLang="ja-JP" dirty="0"/>
              <a:t>(</a:t>
            </a:r>
            <a:r>
              <a:rPr lang="ja-JP" altLang="en-US" dirty="0"/>
              <a:t>ピン番号、設定</a:t>
            </a:r>
            <a:r>
              <a:rPr lang="en-US" altLang="ja-JP" dirty="0"/>
              <a:t>):</a:t>
            </a:r>
            <a:r>
              <a:rPr lang="ja-JP" altLang="en-US" dirty="0">
                <a:solidFill>
                  <a:schemeClr val="tx2">
                    <a:lumMod val="75000"/>
                  </a:schemeClr>
                </a:solidFill>
              </a:rPr>
              <a:t>指定したピン番号のピンを</a:t>
            </a:r>
            <a:r>
              <a:rPr lang="en-US" altLang="ja-JP" dirty="0">
                <a:solidFill>
                  <a:schemeClr val="tx2">
                    <a:lumMod val="75000"/>
                  </a:schemeClr>
                </a:solidFill>
              </a:rPr>
              <a:t>OUTPUT</a:t>
            </a:r>
            <a:r>
              <a:rPr lang="ja-JP" altLang="en-US" dirty="0">
                <a:solidFill>
                  <a:schemeClr val="tx2">
                    <a:lumMod val="75000"/>
                  </a:schemeClr>
                </a:solidFill>
              </a:rPr>
              <a:t>や</a:t>
            </a:r>
            <a:r>
              <a:rPr lang="en-US" altLang="ja-JP" dirty="0">
                <a:solidFill>
                  <a:schemeClr val="tx2">
                    <a:lumMod val="75000"/>
                  </a:schemeClr>
                </a:solidFill>
              </a:rPr>
              <a:t>INPUT</a:t>
            </a:r>
            <a:r>
              <a:rPr lang="ja-JP" altLang="en-US" dirty="0">
                <a:solidFill>
                  <a:schemeClr val="tx2">
                    <a:lumMod val="75000"/>
                  </a:schemeClr>
                </a:solidFill>
              </a:rPr>
              <a:t>に設定する</a:t>
            </a:r>
            <a:endParaRPr lang="en-US" altLang="ja-JP" dirty="0">
              <a:solidFill>
                <a:schemeClr val="tx2">
                  <a:lumMod val="75000"/>
                </a:schemeClr>
              </a:solidFill>
            </a:endParaRPr>
          </a:p>
          <a:p>
            <a:pPr>
              <a:lnSpc>
                <a:spcPct val="120000"/>
              </a:lnSpc>
            </a:pPr>
            <a:r>
              <a:rPr lang="en-US" altLang="ja-JP" dirty="0">
                <a:solidFill>
                  <a:schemeClr val="tx2">
                    <a:lumMod val="75000"/>
                  </a:schemeClr>
                </a:solidFill>
              </a:rPr>
              <a:t>OUTPUT:</a:t>
            </a:r>
            <a:r>
              <a:rPr lang="ja-JP" altLang="en-US" dirty="0">
                <a:solidFill>
                  <a:schemeClr val="tx2">
                    <a:lumMod val="75000"/>
                  </a:schemeClr>
                </a:solidFill>
              </a:rPr>
              <a:t>電圧を出す　</a:t>
            </a:r>
            <a:r>
              <a:rPr lang="en-US" altLang="ja-JP" dirty="0">
                <a:solidFill>
                  <a:schemeClr val="tx2">
                    <a:lumMod val="75000"/>
                  </a:schemeClr>
                </a:solidFill>
              </a:rPr>
              <a:t>INPUT:</a:t>
            </a:r>
            <a:r>
              <a:rPr lang="ja-JP" altLang="en-US" dirty="0">
                <a:solidFill>
                  <a:schemeClr val="tx2">
                    <a:lumMod val="75000"/>
                  </a:schemeClr>
                </a:solidFill>
              </a:rPr>
              <a:t>電圧を読み取る</a:t>
            </a:r>
            <a:endParaRPr lang="en-US" altLang="ja-JP" dirty="0">
              <a:solidFill>
                <a:schemeClr val="tx2">
                  <a:lumMod val="75000"/>
                </a:schemeClr>
              </a:solidFill>
            </a:endParaRPr>
          </a:p>
          <a:p>
            <a:pPr>
              <a:lnSpc>
                <a:spcPct val="120000"/>
              </a:lnSpc>
            </a:pPr>
            <a:r>
              <a:rPr lang="en-US" altLang="ja-JP" dirty="0" err="1"/>
              <a:t>digitalWrite</a:t>
            </a:r>
            <a:r>
              <a:rPr lang="en-US" altLang="ja-JP" dirty="0"/>
              <a:t>(</a:t>
            </a:r>
            <a:r>
              <a:rPr lang="ja-JP" altLang="en-US" dirty="0"/>
              <a:t>ピン番号、</a:t>
            </a:r>
            <a:r>
              <a:rPr lang="en-US" altLang="ja-JP" dirty="0"/>
              <a:t>HIGH or LOW):</a:t>
            </a:r>
            <a:r>
              <a:rPr lang="ja-JP" altLang="en-US" dirty="0">
                <a:solidFill>
                  <a:schemeClr val="tx2">
                    <a:lumMod val="75000"/>
                  </a:schemeClr>
                </a:solidFill>
              </a:rPr>
              <a:t>指定したピン番号のピンから</a:t>
            </a:r>
            <a:r>
              <a:rPr lang="en-US" altLang="ja-JP" dirty="0">
                <a:solidFill>
                  <a:schemeClr val="tx2">
                    <a:lumMod val="75000"/>
                  </a:schemeClr>
                </a:solidFill>
              </a:rPr>
              <a:t>HIGH(3.3V)</a:t>
            </a:r>
            <a:r>
              <a:rPr lang="en-US" altLang="ja-JP" dirty="0" err="1">
                <a:solidFill>
                  <a:schemeClr val="tx2">
                    <a:lumMod val="75000"/>
                  </a:schemeClr>
                </a:solidFill>
              </a:rPr>
              <a:t>orLOW</a:t>
            </a:r>
            <a:r>
              <a:rPr lang="en-US" altLang="ja-JP" dirty="0">
                <a:solidFill>
                  <a:schemeClr val="tx2">
                    <a:lumMod val="75000"/>
                  </a:schemeClr>
                </a:solidFill>
              </a:rPr>
              <a:t>(0V)</a:t>
            </a:r>
            <a:r>
              <a:rPr lang="ja-JP" altLang="en-US" dirty="0">
                <a:solidFill>
                  <a:schemeClr val="tx2">
                    <a:lumMod val="75000"/>
                  </a:schemeClr>
                </a:solidFill>
              </a:rPr>
              <a:t>の電圧を出す</a:t>
            </a:r>
            <a:endParaRPr lang="en-US" altLang="ja-JP" dirty="0">
              <a:solidFill>
                <a:schemeClr val="tx2">
                  <a:lumMod val="75000"/>
                </a:schemeClr>
              </a:solidFill>
            </a:endParaRPr>
          </a:p>
          <a:p>
            <a:pPr>
              <a:lnSpc>
                <a:spcPct val="120000"/>
              </a:lnSpc>
            </a:pPr>
            <a:r>
              <a:rPr lang="en-US" altLang="ja-JP" dirty="0"/>
              <a:t>delay(</a:t>
            </a:r>
            <a:r>
              <a:rPr lang="ja-JP" altLang="en-US" dirty="0"/>
              <a:t>ミリ秒</a:t>
            </a:r>
            <a:r>
              <a:rPr lang="en-US" altLang="ja-JP" dirty="0"/>
              <a:t>):</a:t>
            </a:r>
            <a:r>
              <a:rPr lang="ja-JP" altLang="en-US" dirty="0">
                <a:solidFill>
                  <a:schemeClr val="tx2">
                    <a:lumMod val="75000"/>
                  </a:schemeClr>
                </a:solidFill>
              </a:rPr>
              <a:t>指定したミリ秒だけ待機する</a:t>
            </a:r>
            <a:endParaRPr lang="en-US" altLang="ja-JP" dirty="0">
              <a:solidFill>
                <a:schemeClr val="tx2">
                  <a:lumMod val="75000"/>
                </a:schemeClr>
              </a:solidFill>
            </a:endParaRPr>
          </a:p>
        </p:txBody>
      </p:sp>
      <p:sp>
        <p:nvSpPr>
          <p:cNvPr id="10" name="テキスト プレースホルダー 9">
            <a:extLst>
              <a:ext uri="{FF2B5EF4-FFF2-40B4-BE49-F238E27FC236}">
                <a16:creationId xmlns:a16="http://schemas.microsoft.com/office/drawing/2014/main" id="{2D16FD25-64CE-E182-5E51-24098F08408A}"/>
              </a:ext>
            </a:extLst>
          </p:cNvPr>
          <p:cNvSpPr>
            <a:spLocks noGrp="1"/>
          </p:cNvSpPr>
          <p:nvPr>
            <p:ph type="body" idx="13"/>
          </p:nvPr>
        </p:nvSpPr>
        <p:spPr>
          <a:xfrm>
            <a:off x="427383" y="1237931"/>
            <a:ext cx="10515600" cy="711064"/>
          </a:xfrm>
        </p:spPr>
        <p:txBody>
          <a:bodyPr/>
          <a:lstStyle/>
          <a:p>
            <a:r>
              <a:rPr lang="ja-JP" altLang="en-US" dirty="0">
                <a:solidFill>
                  <a:schemeClr val="accent6"/>
                </a:solidFill>
              </a:rPr>
              <a:t>使う関数</a:t>
            </a:r>
          </a:p>
        </p:txBody>
      </p:sp>
      <p:sp>
        <p:nvSpPr>
          <p:cNvPr id="4" name="タイトル 3">
            <a:extLst>
              <a:ext uri="{FF2B5EF4-FFF2-40B4-BE49-F238E27FC236}">
                <a16:creationId xmlns:a16="http://schemas.microsoft.com/office/drawing/2014/main" id="{28FB67F3-E5FB-E89B-B95E-47A05D92E264}"/>
              </a:ext>
            </a:extLst>
          </p:cNvPr>
          <p:cNvSpPr>
            <a:spLocks noGrp="1"/>
          </p:cNvSpPr>
          <p:nvPr>
            <p:ph type="title"/>
          </p:nvPr>
        </p:nvSpPr>
        <p:spPr>
          <a:xfrm>
            <a:off x="427383" y="266699"/>
            <a:ext cx="8844804" cy="755451"/>
          </a:xfrm>
        </p:spPr>
        <p:txBody>
          <a:bodyPr/>
          <a:lstStyle/>
          <a:p>
            <a:r>
              <a:rPr lang="en-US" altLang="ja-JP" dirty="0"/>
              <a:t>LED</a:t>
            </a:r>
            <a:r>
              <a:rPr lang="ja-JP" altLang="en-US" dirty="0"/>
              <a:t>をピカピカ光らせよう</a:t>
            </a:r>
          </a:p>
        </p:txBody>
      </p:sp>
    </p:spTree>
    <p:extLst>
      <p:ext uri="{BB962C8B-B14F-4D97-AF65-F5344CB8AC3E}">
        <p14:creationId xmlns:p14="http://schemas.microsoft.com/office/powerpoint/2010/main" val="3616372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99917-EBCE-8CF9-3635-B5ACEC701F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C51087-97FA-69E1-A9E2-0B6A4FC9FE75}"/>
              </a:ext>
            </a:extLst>
          </p:cNvPr>
          <p:cNvSpPr>
            <a:spLocks noGrp="1"/>
          </p:cNvSpPr>
          <p:nvPr>
            <p:ph type="title"/>
          </p:nvPr>
        </p:nvSpPr>
        <p:spPr/>
        <p:txBody>
          <a:bodyPr/>
          <a:lstStyle/>
          <a:p>
            <a:r>
              <a:rPr lang="en-US" altLang="ja-JP" dirty="0"/>
              <a:t>LED</a:t>
            </a:r>
            <a:r>
              <a:rPr lang="ja-JP" altLang="en-US" dirty="0"/>
              <a:t>をピカピカ光らせよう</a:t>
            </a:r>
            <a:endParaRPr kumimoji="1" lang="ja-JP" altLang="en-US" dirty="0"/>
          </a:p>
        </p:txBody>
      </p:sp>
      <p:sp>
        <p:nvSpPr>
          <p:cNvPr id="3" name="コンテンツ プレースホルダー 2">
            <a:extLst>
              <a:ext uri="{FF2B5EF4-FFF2-40B4-BE49-F238E27FC236}">
                <a16:creationId xmlns:a16="http://schemas.microsoft.com/office/drawing/2014/main" id="{DF06C53F-0847-E371-1188-ED0B3AB48729}"/>
              </a:ext>
            </a:extLst>
          </p:cNvPr>
          <p:cNvSpPr>
            <a:spLocks noGrp="1"/>
          </p:cNvSpPr>
          <p:nvPr>
            <p:ph idx="1"/>
          </p:nvPr>
        </p:nvSpPr>
        <p:spPr>
          <a:xfrm>
            <a:off x="427383" y="1487227"/>
            <a:ext cx="10515600" cy="4459863"/>
          </a:xfrm>
        </p:spPr>
        <p:txBody>
          <a:bodyPr>
            <a:normAutofit lnSpcReduction="10000"/>
          </a:bodyPr>
          <a:lstStyle/>
          <a:p>
            <a:pPr marL="0" indent="0">
              <a:buNone/>
            </a:pPr>
            <a:r>
              <a:rPr kumimoji="1" lang="ja-JP" altLang="en-US" sz="2400" dirty="0">
                <a:solidFill>
                  <a:srgbClr val="FF9900"/>
                </a:solidFill>
              </a:rPr>
              <a:t>・目標</a:t>
            </a:r>
            <a:endParaRPr kumimoji="1" lang="en-US" altLang="ja-JP" sz="2400" dirty="0">
              <a:solidFill>
                <a:srgbClr val="FF9900"/>
              </a:solidFill>
            </a:endParaRPr>
          </a:p>
          <a:p>
            <a:pPr marL="0" indent="0">
              <a:buNone/>
            </a:pPr>
            <a:r>
              <a:rPr lang="ja-JP" altLang="en-US" sz="2400" dirty="0"/>
              <a:t>　１秒ごとに、</a:t>
            </a:r>
            <a:r>
              <a:rPr lang="en-US" altLang="ja-JP" sz="2400" dirty="0"/>
              <a:t>LED</a:t>
            </a:r>
            <a:r>
              <a:rPr lang="ja-JP" altLang="en-US" sz="2400" dirty="0"/>
              <a:t>の色が赤→緑→青→赤→</a:t>
            </a:r>
            <a:r>
              <a:rPr lang="en-US" altLang="ja-JP" sz="2400" dirty="0"/>
              <a:t>…</a:t>
            </a:r>
            <a:r>
              <a:rPr lang="ja-JP" altLang="en-US" sz="2400" dirty="0"/>
              <a:t>を切り替えてみよう</a:t>
            </a:r>
            <a:endParaRPr lang="en-US" altLang="ja-JP" sz="2400" dirty="0"/>
          </a:p>
          <a:p>
            <a:pPr marL="0" indent="0">
              <a:buNone/>
            </a:pPr>
            <a:endParaRPr kumimoji="1" lang="en-US" altLang="ja-JP" sz="2400" dirty="0"/>
          </a:p>
          <a:p>
            <a:pPr marL="0" indent="0">
              <a:buNone/>
            </a:pPr>
            <a:r>
              <a:rPr kumimoji="1" lang="ja-JP" altLang="en-US" sz="2400" dirty="0">
                <a:solidFill>
                  <a:schemeClr val="accent6"/>
                </a:solidFill>
              </a:rPr>
              <a:t>・手順</a:t>
            </a:r>
            <a:endParaRPr kumimoji="1" lang="en-US" altLang="ja-JP" sz="2400" dirty="0">
              <a:solidFill>
                <a:schemeClr val="accent6"/>
              </a:solidFill>
            </a:endParaRPr>
          </a:p>
          <a:p>
            <a:pPr marL="0" indent="0">
              <a:buNone/>
            </a:pPr>
            <a:r>
              <a:rPr lang="en-US" altLang="ja-JP" sz="2400" dirty="0"/>
              <a:t>1:VSCode</a:t>
            </a:r>
            <a:r>
              <a:rPr lang="ja-JP" altLang="en-US" sz="2400" dirty="0"/>
              <a:t>の左上、ファイルのフォルダを開くから、配布したフォルダの中の</a:t>
            </a:r>
            <a:r>
              <a:rPr lang="en-US" altLang="ja-JP" sz="2400" dirty="0"/>
              <a:t>Sample/LED</a:t>
            </a:r>
            <a:r>
              <a:rPr lang="ja-JP" altLang="en-US" sz="2400" dirty="0"/>
              <a:t>を開く</a:t>
            </a:r>
            <a:endParaRPr lang="en-US" altLang="ja-JP" sz="2400" dirty="0"/>
          </a:p>
          <a:p>
            <a:pPr marL="0" indent="0">
              <a:buNone/>
            </a:pPr>
            <a:endParaRPr kumimoji="1" lang="en-US" altLang="ja-JP" sz="2400" dirty="0"/>
          </a:p>
          <a:p>
            <a:pPr marL="0" indent="0">
              <a:buNone/>
            </a:pPr>
            <a:r>
              <a:rPr lang="en-US" altLang="ja-JP" sz="2400" dirty="0"/>
              <a:t>2:VSCode</a:t>
            </a:r>
            <a:r>
              <a:rPr lang="ja-JP" altLang="en-US" sz="2400" dirty="0"/>
              <a:t>の左のエクスプローラーから、</a:t>
            </a:r>
            <a:r>
              <a:rPr lang="en-US" altLang="ja-JP" sz="2400" dirty="0" err="1"/>
              <a:t>src</a:t>
            </a:r>
            <a:r>
              <a:rPr lang="en-US" altLang="ja-JP" sz="2400" dirty="0"/>
              <a:t>/main.cpp</a:t>
            </a:r>
            <a:r>
              <a:rPr lang="ja-JP" altLang="en-US" sz="2400" dirty="0"/>
              <a:t>をクリックして開く</a:t>
            </a:r>
            <a:endParaRPr lang="en-US" altLang="ja-JP" sz="2400" dirty="0"/>
          </a:p>
          <a:p>
            <a:pPr marL="0" indent="0">
              <a:buNone/>
            </a:pPr>
            <a:endParaRPr kumimoji="1" lang="en-US" altLang="ja-JP" sz="2400" dirty="0"/>
          </a:p>
          <a:p>
            <a:pPr marL="0" indent="0">
              <a:buNone/>
            </a:pPr>
            <a:r>
              <a:rPr lang="en-US" altLang="ja-JP" sz="2400" dirty="0"/>
              <a:t>3:main.cpp</a:t>
            </a:r>
            <a:r>
              <a:rPr lang="ja-JP" altLang="en-US" sz="2400" dirty="0"/>
              <a:t>にプログラムを書こう</a:t>
            </a:r>
            <a:endParaRPr kumimoji="1" lang="en-US" altLang="ja-JP" sz="2400" dirty="0"/>
          </a:p>
        </p:txBody>
      </p:sp>
    </p:spTree>
    <p:extLst>
      <p:ext uri="{BB962C8B-B14F-4D97-AF65-F5344CB8AC3E}">
        <p14:creationId xmlns:p14="http://schemas.microsoft.com/office/powerpoint/2010/main" val="4052510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E78648-FE21-7368-AF6E-F015972C5E4E}"/>
              </a:ext>
            </a:extLst>
          </p:cNvPr>
          <p:cNvSpPr>
            <a:spLocks noGrp="1"/>
          </p:cNvSpPr>
          <p:nvPr>
            <p:ph type="title"/>
          </p:nvPr>
        </p:nvSpPr>
        <p:spPr/>
        <p:txBody>
          <a:bodyPr/>
          <a:lstStyle/>
          <a:p>
            <a:r>
              <a:rPr lang="en-US" altLang="ja-JP" dirty="0"/>
              <a:t>LED</a:t>
            </a:r>
            <a:r>
              <a:rPr lang="ja-JP" altLang="en-US" dirty="0"/>
              <a:t>をピカピカ光らせよう</a:t>
            </a:r>
            <a:endParaRPr kumimoji="1" lang="ja-JP" altLang="en-US" dirty="0"/>
          </a:p>
        </p:txBody>
      </p:sp>
      <p:sp>
        <p:nvSpPr>
          <p:cNvPr id="3" name="コンテンツ プレースホルダー 2">
            <a:extLst>
              <a:ext uri="{FF2B5EF4-FFF2-40B4-BE49-F238E27FC236}">
                <a16:creationId xmlns:a16="http://schemas.microsoft.com/office/drawing/2014/main" id="{74254223-E6FD-C4CB-9C19-F8B90F3B8B71}"/>
              </a:ext>
            </a:extLst>
          </p:cNvPr>
          <p:cNvSpPr>
            <a:spLocks noGrp="1"/>
          </p:cNvSpPr>
          <p:nvPr>
            <p:ph idx="1"/>
          </p:nvPr>
        </p:nvSpPr>
        <p:spPr>
          <a:xfrm>
            <a:off x="427383" y="1487228"/>
            <a:ext cx="10515600" cy="5370772"/>
          </a:xfrm>
        </p:spPr>
        <p:txBody>
          <a:bodyPr>
            <a:normAutofit lnSpcReduction="10000"/>
          </a:bodyPr>
          <a:lstStyle/>
          <a:p>
            <a:pPr marL="0" indent="0">
              <a:buNone/>
            </a:pPr>
            <a:r>
              <a:rPr lang="ja-JP" altLang="en-US" sz="2400" dirty="0">
                <a:solidFill>
                  <a:schemeClr val="accent6"/>
                </a:solidFill>
              </a:rPr>
              <a:t>プログラムを書く上でのヒント</a:t>
            </a:r>
            <a:endParaRPr lang="en-US" altLang="ja-JP" sz="2400" dirty="0">
              <a:solidFill>
                <a:schemeClr val="accent6"/>
              </a:solidFill>
            </a:endParaRPr>
          </a:p>
          <a:p>
            <a:pPr marL="0" indent="0">
              <a:buNone/>
            </a:pPr>
            <a:endParaRPr lang="en-US" altLang="ja-JP" sz="2400" dirty="0"/>
          </a:p>
          <a:p>
            <a:pPr marL="0" indent="0">
              <a:buNone/>
            </a:pPr>
            <a:r>
              <a:rPr kumimoji="1" lang="ja-JP" altLang="en-US" sz="2400" dirty="0"/>
              <a:t>・</a:t>
            </a:r>
            <a:r>
              <a:rPr kumimoji="1" lang="en-US" altLang="ja-JP" sz="2400" dirty="0"/>
              <a:t>LED</a:t>
            </a:r>
            <a:r>
              <a:rPr kumimoji="1" lang="ja-JP" altLang="en-US" sz="2400" dirty="0"/>
              <a:t>を光らせるには</a:t>
            </a:r>
            <a:r>
              <a:rPr kumimoji="1" lang="en-US" altLang="ja-JP" sz="2400" dirty="0"/>
              <a:t>…</a:t>
            </a:r>
            <a:r>
              <a:rPr kumimoji="1" lang="ja-JP" altLang="en-US" sz="2400" dirty="0"/>
              <a:t>繋がっているピンに電圧を掛けよう</a:t>
            </a:r>
            <a:endParaRPr kumimoji="1" lang="en-US" altLang="ja-JP" sz="2400" dirty="0"/>
          </a:p>
          <a:p>
            <a:pPr marL="0" indent="0">
              <a:buNone/>
            </a:pPr>
            <a:endParaRPr kumimoji="1" lang="en-US" altLang="ja-JP" sz="2400" dirty="0"/>
          </a:p>
          <a:p>
            <a:pPr marL="0" indent="0">
              <a:buNone/>
            </a:pPr>
            <a:r>
              <a:rPr kumimoji="1" lang="ja-JP" altLang="en-US" sz="2400" dirty="0"/>
              <a:t>・何を書けばいいか分からない</a:t>
            </a:r>
            <a:r>
              <a:rPr kumimoji="1" lang="en-US" altLang="ja-JP" sz="2400" dirty="0"/>
              <a:t>…</a:t>
            </a:r>
            <a:r>
              <a:rPr kumimoji="1" lang="ja-JP" altLang="en-US" sz="2400" dirty="0"/>
              <a:t>サンプルに既に書かれているものをコピペして使ってみよう</a:t>
            </a:r>
            <a:endParaRPr kumimoji="1" lang="en-US" altLang="ja-JP" sz="2400" dirty="0"/>
          </a:p>
          <a:p>
            <a:pPr marL="0" indent="0">
              <a:buNone/>
            </a:pPr>
            <a:endParaRPr lang="en-US" altLang="ja-JP" sz="2400" dirty="0"/>
          </a:p>
          <a:p>
            <a:pPr marL="0" indent="0">
              <a:buNone/>
            </a:pPr>
            <a:r>
              <a:rPr lang="ja-JP" altLang="en-US" sz="2400" dirty="0">
                <a:solidFill>
                  <a:schemeClr val="accent6"/>
                </a:solidFill>
              </a:rPr>
              <a:t>書き込み方法</a:t>
            </a:r>
            <a:endParaRPr lang="en-US" altLang="ja-JP" sz="2400" dirty="0">
              <a:solidFill>
                <a:schemeClr val="accent6"/>
              </a:solidFill>
            </a:endParaRPr>
          </a:p>
          <a:p>
            <a:pPr marL="0" indent="0">
              <a:buNone/>
            </a:pPr>
            <a:endParaRPr lang="en-US" altLang="ja-JP" sz="2400" dirty="0">
              <a:solidFill>
                <a:schemeClr val="accent6"/>
              </a:solidFill>
            </a:endParaRPr>
          </a:p>
          <a:p>
            <a:pPr marL="0" indent="0">
              <a:buNone/>
            </a:pPr>
            <a:r>
              <a:rPr lang="ja-JP" altLang="en-US" sz="2400" dirty="0"/>
              <a:t>マイコンの、</a:t>
            </a:r>
            <a:r>
              <a:rPr lang="en-US" altLang="ja-JP" sz="2400" dirty="0"/>
              <a:t>Boot </a:t>
            </a:r>
            <a:r>
              <a:rPr lang="ja-JP" altLang="en-US" sz="2400" dirty="0"/>
              <a:t>スイッチと</a:t>
            </a:r>
            <a:r>
              <a:rPr lang="en-US" altLang="ja-JP" sz="2400" dirty="0"/>
              <a:t>RESET</a:t>
            </a:r>
            <a:r>
              <a:rPr lang="ja-JP" altLang="en-US" sz="2400" dirty="0"/>
              <a:t>スイッチを同時に押してから</a:t>
            </a:r>
            <a:r>
              <a:rPr lang="en-US" altLang="ja-JP" sz="2400" dirty="0"/>
              <a:t>RESET</a:t>
            </a:r>
            <a:r>
              <a:rPr lang="ja-JP" altLang="en-US" sz="2400" dirty="0"/>
              <a:t>スイッチだけを離し、書き込みモードにする。</a:t>
            </a:r>
            <a:endParaRPr lang="en-US" altLang="ja-JP" sz="2400" dirty="0"/>
          </a:p>
          <a:p>
            <a:pPr marL="0" indent="0">
              <a:buNone/>
            </a:pPr>
            <a:r>
              <a:rPr lang="ja-JP" altLang="en-US" sz="2400" dirty="0"/>
              <a:t>パソコンと繋いで</a:t>
            </a:r>
            <a:r>
              <a:rPr lang="en-US" altLang="ja-JP" sz="2400" dirty="0" err="1"/>
              <a:t>VSCode</a:t>
            </a:r>
            <a:r>
              <a:rPr lang="ja-JP" altLang="en-US" sz="2400" dirty="0"/>
              <a:t>の下の「→」マークのアップロードを押して、マイコンにプログラムを書き込もう</a:t>
            </a:r>
            <a:endParaRPr lang="en-US" altLang="ja-JP" sz="2400" dirty="0"/>
          </a:p>
        </p:txBody>
      </p:sp>
    </p:spTree>
    <p:extLst>
      <p:ext uri="{BB962C8B-B14F-4D97-AF65-F5344CB8AC3E}">
        <p14:creationId xmlns:p14="http://schemas.microsoft.com/office/powerpoint/2010/main" val="927764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B33F3E-5B6E-D6EF-3190-A1DD6720FCD0}"/>
              </a:ext>
            </a:extLst>
          </p:cNvPr>
          <p:cNvSpPr>
            <a:spLocks noGrp="1"/>
          </p:cNvSpPr>
          <p:nvPr>
            <p:ph type="title"/>
          </p:nvPr>
        </p:nvSpPr>
        <p:spPr>
          <a:xfrm>
            <a:off x="0" y="-2475"/>
            <a:ext cx="9272187" cy="1017646"/>
          </a:xfrm>
        </p:spPr>
        <p:txBody>
          <a:bodyPr/>
          <a:lstStyle/>
          <a:p>
            <a:r>
              <a:rPr kumimoji="1" lang="ja-JP" altLang="en-US" dirty="0"/>
              <a:t>　　次にやるものを選ぼう</a:t>
            </a:r>
          </a:p>
        </p:txBody>
      </p:sp>
      <p:sp>
        <p:nvSpPr>
          <p:cNvPr id="3" name="コンテンツ プレースホルダー 2">
            <a:extLst>
              <a:ext uri="{FF2B5EF4-FFF2-40B4-BE49-F238E27FC236}">
                <a16:creationId xmlns:a16="http://schemas.microsoft.com/office/drawing/2014/main" id="{BEF050FA-F48E-E339-56E1-D791F9CB5077}"/>
              </a:ext>
            </a:extLst>
          </p:cNvPr>
          <p:cNvSpPr>
            <a:spLocks noGrp="1"/>
          </p:cNvSpPr>
          <p:nvPr>
            <p:ph idx="1"/>
          </p:nvPr>
        </p:nvSpPr>
        <p:spPr>
          <a:xfrm>
            <a:off x="427383" y="1487229"/>
            <a:ext cx="10515600" cy="3468679"/>
          </a:xfrm>
        </p:spPr>
        <p:txBody>
          <a:bodyPr>
            <a:normAutofit lnSpcReduction="10000"/>
          </a:bodyPr>
          <a:lstStyle/>
          <a:p>
            <a:pPr marL="0" indent="0">
              <a:buNone/>
            </a:pPr>
            <a:r>
              <a:rPr kumimoji="1" lang="ja-JP" altLang="en-US" sz="2400" dirty="0"/>
              <a:t>このボードにはボタンや光センサーも乗っている。またこのマイコンとパソコンの間ではシリアル通信というものを用いて、相互にデータを送り動作させることができる。</a:t>
            </a:r>
            <a:endParaRPr kumimoji="1" lang="en-US" altLang="ja-JP" sz="2400" dirty="0"/>
          </a:p>
          <a:p>
            <a:pPr marL="0" indent="0">
              <a:buNone/>
            </a:pPr>
            <a:r>
              <a:rPr kumimoji="1" lang="ja-JP" altLang="en-US" sz="2400" dirty="0"/>
              <a:t>これを活かして何をしたいか選んでみよう</a:t>
            </a:r>
            <a:endParaRPr kumimoji="1" lang="en-US" altLang="ja-JP" sz="2400" dirty="0"/>
          </a:p>
          <a:p>
            <a:pPr marL="0" indent="0">
              <a:buNone/>
            </a:pPr>
            <a:endParaRPr lang="en-US" altLang="ja-JP" sz="2400" dirty="0"/>
          </a:p>
          <a:p>
            <a:pPr marL="0" indent="0">
              <a:buNone/>
            </a:pPr>
            <a:r>
              <a:rPr kumimoji="1" lang="en-US" altLang="ja-JP" sz="2400" dirty="0"/>
              <a:t>1:</a:t>
            </a:r>
            <a:r>
              <a:rPr kumimoji="1" lang="ja-JP" altLang="en-US" sz="2400" dirty="0"/>
              <a:t>ボタンで</a:t>
            </a:r>
            <a:r>
              <a:rPr kumimoji="1" lang="en-US" altLang="ja-JP" sz="2400" dirty="0"/>
              <a:t>LED</a:t>
            </a:r>
            <a:r>
              <a:rPr kumimoji="1" lang="ja-JP" altLang="en-US" sz="2400" dirty="0"/>
              <a:t>を制御する</a:t>
            </a:r>
            <a:endParaRPr kumimoji="1" lang="en-US" altLang="ja-JP" sz="2400" dirty="0"/>
          </a:p>
          <a:p>
            <a:pPr marL="0" indent="0">
              <a:buNone/>
            </a:pPr>
            <a:r>
              <a:rPr lang="en-US" altLang="ja-JP" sz="2400" dirty="0"/>
              <a:t>2:</a:t>
            </a:r>
            <a:r>
              <a:rPr lang="ja-JP" altLang="en-US" sz="2400" dirty="0"/>
              <a:t>光センサーで</a:t>
            </a:r>
            <a:r>
              <a:rPr lang="en-US" altLang="ja-JP" sz="2400" dirty="0"/>
              <a:t>LED</a:t>
            </a:r>
            <a:r>
              <a:rPr lang="ja-JP" altLang="en-US" sz="2400" dirty="0"/>
              <a:t>を制御する</a:t>
            </a:r>
            <a:endParaRPr lang="en-US" altLang="ja-JP" sz="2400" dirty="0"/>
          </a:p>
          <a:p>
            <a:pPr marL="0" indent="0">
              <a:buNone/>
            </a:pPr>
            <a:r>
              <a:rPr lang="en-US" altLang="ja-JP" sz="2400" dirty="0"/>
              <a:t>3:</a:t>
            </a:r>
            <a:r>
              <a:rPr lang="ja-JP" altLang="en-US" sz="2400" dirty="0"/>
              <a:t>シリアル通信で</a:t>
            </a:r>
            <a:r>
              <a:rPr lang="en-US" altLang="ja-JP" sz="2400" dirty="0"/>
              <a:t>LED</a:t>
            </a:r>
            <a:r>
              <a:rPr lang="ja-JP" altLang="en-US" sz="2400" dirty="0"/>
              <a:t>を制御したり、光センサーの値を読み取る</a:t>
            </a:r>
            <a:endParaRPr lang="en-US" altLang="ja-JP" sz="2400" dirty="0"/>
          </a:p>
        </p:txBody>
      </p:sp>
    </p:spTree>
    <p:extLst>
      <p:ext uri="{BB962C8B-B14F-4D97-AF65-F5344CB8AC3E}">
        <p14:creationId xmlns:p14="http://schemas.microsoft.com/office/powerpoint/2010/main" val="29035854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93C957-D044-3E6C-10A9-EB53BBB6F01F}"/>
              </a:ext>
            </a:extLst>
          </p:cNvPr>
          <p:cNvSpPr>
            <a:spLocks noGrp="1"/>
          </p:cNvSpPr>
          <p:nvPr>
            <p:ph type="title"/>
          </p:nvPr>
        </p:nvSpPr>
        <p:spPr/>
        <p:txBody>
          <a:bodyPr/>
          <a:lstStyle/>
          <a:p>
            <a:r>
              <a:rPr kumimoji="1" lang="ja-JP" altLang="en-US" dirty="0"/>
              <a:t>　　ボタンを使ってみよう</a:t>
            </a:r>
          </a:p>
        </p:txBody>
      </p:sp>
      <p:sp>
        <p:nvSpPr>
          <p:cNvPr id="3" name="コンテンツ プレースホルダー 2">
            <a:extLst>
              <a:ext uri="{FF2B5EF4-FFF2-40B4-BE49-F238E27FC236}">
                <a16:creationId xmlns:a16="http://schemas.microsoft.com/office/drawing/2014/main" id="{98441A51-179F-5B83-65E3-EA4FFD6F5CFD}"/>
              </a:ext>
            </a:extLst>
          </p:cNvPr>
          <p:cNvSpPr>
            <a:spLocks noGrp="1"/>
          </p:cNvSpPr>
          <p:nvPr>
            <p:ph idx="1"/>
          </p:nvPr>
        </p:nvSpPr>
        <p:spPr>
          <a:xfrm>
            <a:off x="427383" y="1487228"/>
            <a:ext cx="10515600" cy="4941493"/>
          </a:xfrm>
        </p:spPr>
        <p:txBody>
          <a:bodyPr>
            <a:normAutofit lnSpcReduction="10000"/>
          </a:bodyPr>
          <a:lstStyle/>
          <a:p>
            <a:pPr marL="0" indent="0">
              <a:buNone/>
            </a:pPr>
            <a:r>
              <a:rPr kumimoji="1" lang="ja-JP" altLang="en-US" sz="2400" dirty="0">
                <a:solidFill>
                  <a:schemeClr val="accent2"/>
                </a:solidFill>
              </a:rPr>
              <a:t>・目標</a:t>
            </a:r>
            <a:r>
              <a:rPr kumimoji="1" lang="en-US" altLang="ja-JP" sz="2400" dirty="0">
                <a:solidFill>
                  <a:schemeClr val="accent2"/>
                </a:solidFill>
              </a:rPr>
              <a:t>1</a:t>
            </a:r>
          </a:p>
          <a:p>
            <a:pPr marL="0" indent="0">
              <a:buNone/>
            </a:pPr>
            <a:r>
              <a:rPr kumimoji="1" lang="ja-JP" altLang="en-US" sz="2400" dirty="0"/>
              <a:t>　ボタンを押すと</a:t>
            </a:r>
            <a:r>
              <a:rPr kumimoji="1" lang="en-US" altLang="ja-JP" sz="2400" dirty="0"/>
              <a:t>LED</a:t>
            </a:r>
            <a:r>
              <a:rPr kumimoji="1" lang="ja-JP" altLang="en-US" sz="2400" dirty="0"/>
              <a:t>が消え、離すと光るようにしてみよう</a:t>
            </a:r>
            <a:endParaRPr lang="en-US" altLang="ja-JP" sz="2400" dirty="0"/>
          </a:p>
          <a:p>
            <a:pPr marL="0" indent="0">
              <a:buNone/>
            </a:pPr>
            <a:r>
              <a:rPr kumimoji="1" lang="ja-JP" altLang="en-US" sz="2400" dirty="0"/>
              <a:t>　サンプル</a:t>
            </a:r>
            <a:r>
              <a:rPr lang="en-US" altLang="ja-JP" sz="2400" dirty="0"/>
              <a:t>:Button LED Simple</a:t>
            </a:r>
          </a:p>
          <a:p>
            <a:pPr marL="0" indent="0">
              <a:buNone/>
            </a:pPr>
            <a:endParaRPr lang="en-US" altLang="ja-JP" sz="2400" dirty="0"/>
          </a:p>
          <a:p>
            <a:pPr marL="0" indent="0">
              <a:buNone/>
            </a:pPr>
            <a:r>
              <a:rPr lang="ja-JP" altLang="en-US" sz="2400" dirty="0">
                <a:solidFill>
                  <a:schemeClr val="accent2"/>
                </a:solidFill>
              </a:rPr>
              <a:t>・目標</a:t>
            </a:r>
            <a:r>
              <a:rPr lang="en-US" altLang="ja-JP" sz="2400" dirty="0">
                <a:solidFill>
                  <a:schemeClr val="accent2"/>
                </a:solidFill>
              </a:rPr>
              <a:t>2(</a:t>
            </a:r>
            <a:r>
              <a:rPr lang="ja-JP" altLang="en-US" sz="2400" dirty="0">
                <a:solidFill>
                  <a:schemeClr val="accent2"/>
                </a:solidFill>
              </a:rPr>
              <a:t>難しい</a:t>
            </a:r>
            <a:r>
              <a:rPr lang="en-US" altLang="ja-JP" sz="2400" dirty="0">
                <a:solidFill>
                  <a:schemeClr val="accent2"/>
                </a:solidFill>
              </a:rPr>
              <a:t>)</a:t>
            </a:r>
          </a:p>
          <a:p>
            <a:pPr marL="0" indent="0">
              <a:buNone/>
            </a:pPr>
            <a:r>
              <a:rPr lang="ja-JP" altLang="en-US" sz="2400" dirty="0"/>
              <a:t>　ボタンを押すと、消灯→赤→緑→青→消灯</a:t>
            </a:r>
            <a:r>
              <a:rPr lang="en-US" altLang="ja-JP" sz="2400" dirty="0"/>
              <a:t>…</a:t>
            </a:r>
            <a:r>
              <a:rPr lang="ja-JP" altLang="en-US" sz="2400" dirty="0"/>
              <a:t>という風に切り替えよう</a:t>
            </a:r>
            <a:endParaRPr lang="en-US" altLang="ja-JP" sz="2400" dirty="0"/>
          </a:p>
          <a:p>
            <a:pPr marL="0" indent="0">
              <a:buNone/>
            </a:pPr>
            <a:r>
              <a:rPr lang="ja-JP" altLang="en-US" sz="2400" dirty="0"/>
              <a:t>　サンプル</a:t>
            </a:r>
            <a:r>
              <a:rPr lang="en-US" altLang="ja-JP" sz="2400" dirty="0"/>
              <a:t>:Button LED</a:t>
            </a:r>
          </a:p>
          <a:p>
            <a:pPr marL="0" indent="0">
              <a:buNone/>
            </a:pPr>
            <a:endParaRPr lang="en-US" altLang="ja-JP" sz="2400" dirty="0"/>
          </a:p>
          <a:p>
            <a:pPr marL="0" indent="0">
              <a:buNone/>
            </a:pPr>
            <a:r>
              <a:rPr lang="ja-JP" altLang="en-US" sz="2400" dirty="0">
                <a:solidFill>
                  <a:schemeClr val="accent6"/>
                </a:solidFill>
              </a:rPr>
              <a:t>・ヒント</a:t>
            </a:r>
            <a:endParaRPr lang="en-US" altLang="ja-JP" sz="2400" dirty="0">
              <a:solidFill>
                <a:schemeClr val="accent6"/>
              </a:solidFill>
            </a:endParaRPr>
          </a:p>
          <a:p>
            <a:pPr marL="0" indent="0">
              <a:buNone/>
            </a:pPr>
            <a:r>
              <a:rPr lang="ja-JP" altLang="en-US" sz="2400" dirty="0"/>
              <a:t>　</a:t>
            </a:r>
            <a:r>
              <a:rPr lang="en-US" altLang="ja-JP" sz="2400" dirty="0" err="1"/>
              <a:t>digitalRead</a:t>
            </a:r>
            <a:r>
              <a:rPr lang="en-US" altLang="ja-JP" sz="2400" dirty="0"/>
              <a:t>(Button)</a:t>
            </a:r>
            <a:r>
              <a:rPr lang="ja-JP" altLang="en-US" sz="2400" dirty="0"/>
              <a:t>でボタンに繋がるピンの電圧が</a:t>
            </a:r>
            <a:r>
              <a:rPr lang="en-US" altLang="ja-JP" sz="2400" dirty="0"/>
              <a:t>HIGH(3.3V)</a:t>
            </a:r>
            <a:r>
              <a:rPr lang="ja-JP" altLang="en-US" sz="2400" dirty="0"/>
              <a:t>か</a:t>
            </a:r>
            <a:r>
              <a:rPr lang="en-US" altLang="ja-JP" sz="2400" dirty="0"/>
              <a:t>LOW(0V)</a:t>
            </a:r>
            <a:r>
              <a:rPr lang="ja-JP" altLang="en-US" sz="2400" dirty="0"/>
              <a:t>か読める。あとは</a:t>
            </a:r>
            <a:r>
              <a:rPr lang="en-US" altLang="ja-JP" sz="2400" dirty="0"/>
              <a:t>if</a:t>
            </a:r>
            <a:r>
              <a:rPr lang="ja-JP" altLang="en-US" sz="2400" dirty="0"/>
              <a:t>文を使って分岐させてみよう</a:t>
            </a:r>
            <a:endParaRPr lang="en-US" altLang="ja-JP" sz="2400" dirty="0"/>
          </a:p>
        </p:txBody>
      </p:sp>
    </p:spTree>
    <p:extLst>
      <p:ext uri="{BB962C8B-B14F-4D97-AF65-F5344CB8AC3E}">
        <p14:creationId xmlns:p14="http://schemas.microsoft.com/office/powerpoint/2010/main" val="696695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B807C65-0A8B-106A-2B70-3DB6438F1929}"/>
              </a:ext>
            </a:extLst>
          </p:cNvPr>
          <p:cNvSpPr>
            <a:spLocks noGrp="1"/>
          </p:cNvSpPr>
          <p:nvPr>
            <p:ph type="title"/>
          </p:nvPr>
        </p:nvSpPr>
        <p:spPr/>
        <p:txBody>
          <a:bodyPr/>
          <a:lstStyle/>
          <a:p>
            <a:r>
              <a:rPr kumimoji="1" lang="ja-JP" altLang="en-US" dirty="0"/>
              <a:t>　　光センサーを使ってみよう</a:t>
            </a:r>
          </a:p>
        </p:txBody>
      </p:sp>
      <p:sp>
        <p:nvSpPr>
          <p:cNvPr id="3" name="コンテンツ プレースホルダー 2">
            <a:extLst>
              <a:ext uri="{FF2B5EF4-FFF2-40B4-BE49-F238E27FC236}">
                <a16:creationId xmlns:a16="http://schemas.microsoft.com/office/drawing/2014/main" id="{BF313F3F-83C2-5C6B-AE27-96A9E0D03CC3}"/>
              </a:ext>
            </a:extLst>
          </p:cNvPr>
          <p:cNvSpPr>
            <a:spLocks noGrp="1"/>
          </p:cNvSpPr>
          <p:nvPr>
            <p:ph idx="1"/>
          </p:nvPr>
        </p:nvSpPr>
        <p:spPr>
          <a:xfrm>
            <a:off x="427383" y="1487228"/>
            <a:ext cx="10515600" cy="3426799"/>
          </a:xfrm>
        </p:spPr>
        <p:txBody>
          <a:bodyPr>
            <a:normAutofit lnSpcReduction="10000"/>
          </a:bodyPr>
          <a:lstStyle/>
          <a:p>
            <a:pPr marL="0" indent="0">
              <a:buNone/>
            </a:pPr>
            <a:r>
              <a:rPr kumimoji="1" lang="ja-JP" altLang="en-US" sz="2400" dirty="0">
                <a:solidFill>
                  <a:schemeClr val="accent2"/>
                </a:solidFill>
              </a:rPr>
              <a:t>・目標</a:t>
            </a:r>
            <a:endParaRPr kumimoji="1" lang="en-US" altLang="ja-JP" sz="2400" dirty="0">
              <a:solidFill>
                <a:schemeClr val="accent2"/>
              </a:solidFill>
            </a:endParaRPr>
          </a:p>
          <a:p>
            <a:pPr marL="0" indent="0">
              <a:buNone/>
            </a:pPr>
            <a:r>
              <a:rPr lang="ja-JP" altLang="en-US" sz="2400" dirty="0"/>
              <a:t>　光センサーの値が</a:t>
            </a:r>
            <a:r>
              <a:rPr lang="en-US" altLang="ja-JP" sz="2400" dirty="0"/>
              <a:t>4000</a:t>
            </a:r>
            <a:r>
              <a:rPr lang="ja-JP" altLang="en-US" sz="2400" dirty="0"/>
              <a:t>以上の時に</a:t>
            </a:r>
            <a:r>
              <a:rPr lang="en-US" altLang="ja-JP" sz="2400" dirty="0"/>
              <a:t>LED</a:t>
            </a:r>
            <a:r>
              <a:rPr lang="ja-JP" altLang="en-US" sz="2400" dirty="0"/>
              <a:t>を青、</a:t>
            </a:r>
            <a:r>
              <a:rPr lang="en-US" altLang="ja-JP" sz="2400" dirty="0"/>
              <a:t>4000</a:t>
            </a:r>
            <a:r>
              <a:rPr lang="ja-JP" altLang="en-US" sz="2400" dirty="0"/>
              <a:t>未満</a:t>
            </a:r>
            <a:r>
              <a:rPr lang="en-US" altLang="ja-JP" sz="2400" dirty="0"/>
              <a:t>3000</a:t>
            </a:r>
            <a:r>
              <a:rPr lang="ja-JP" altLang="en-US" sz="2400" dirty="0"/>
              <a:t>以上の時に緑、</a:t>
            </a:r>
            <a:r>
              <a:rPr lang="en-US" altLang="ja-JP" sz="2400" dirty="0"/>
              <a:t>3000</a:t>
            </a:r>
            <a:r>
              <a:rPr lang="ja-JP" altLang="en-US" sz="2400" dirty="0"/>
              <a:t>未満</a:t>
            </a:r>
            <a:r>
              <a:rPr lang="en-US" altLang="ja-JP" sz="2400" dirty="0"/>
              <a:t>2000</a:t>
            </a:r>
            <a:r>
              <a:rPr lang="ja-JP" altLang="en-US" sz="2400" dirty="0"/>
              <a:t>以上の時に赤、</a:t>
            </a:r>
            <a:r>
              <a:rPr lang="en-US" altLang="ja-JP" sz="2400" dirty="0"/>
              <a:t>2000</a:t>
            </a:r>
            <a:r>
              <a:rPr lang="ja-JP" altLang="en-US" sz="2400" dirty="0"/>
              <a:t>未満の時は消灯するようにしてみよう</a:t>
            </a:r>
            <a:endParaRPr lang="en-US" altLang="ja-JP" sz="2400" dirty="0"/>
          </a:p>
          <a:p>
            <a:pPr marL="0" indent="0">
              <a:buNone/>
            </a:pPr>
            <a:r>
              <a:rPr kumimoji="1" lang="ja-JP" altLang="en-US" sz="2400" dirty="0"/>
              <a:t>　サンプル</a:t>
            </a:r>
            <a:r>
              <a:rPr lang="en-US" altLang="ja-JP" sz="2400" dirty="0"/>
              <a:t>:Sensor LED</a:t>
            </a:r>
          </a:p>
          <a:p>
            <a:pPr marL="0" indent="0">
              <a:buNone/>
            </a:pPr>
            <a:endParaRPr lang="en-US" altLang="ja-JP" sz="2400" dirty="0"/>
          </a:p>
          <a:p>
            <a:pPr marL="0" indent="0">
              <a:buNone/>
            </a:pPr>
            <a:r>
              <a:rPr lang="ja-JP" altLang="en-US" sz="2400" dirty="0">
                <a:solidFill>
                  <a:schemeClr val="accent6"/>
                </a:solidFill>
              </a:rPr>
              <a:t>・ヒント</a:t>
            </a:r>
            <a:endParaRPr lang="en-US" altLang="ja-JP" sz="2400" dirty="0">
              <a:solidFill>
                <a:schemeClr val="accent6"/>
              </a:solidFill>
            </a:endParaRPr>
          </a:p>
          <a:p>
            <a:pPr marL="0" indent="0">
              <a:buNone/>
            </a:pPr>
            <a:r>
              <a:rPr lang="ja-JP" altLang="en-US" sz="2400" dirty="0"/>
              <a:t>　光センサーの値は真っ暗のときに</a:t>
            </a:r>
            <a:r>
              <a:rPr lang="en-US" altLang="ja-JP" sz="2400" dirty="0"/>
              <a:t>1300</a:t>
            </a:r>
            <a:r>
              <a:rPr lang="ja-JP" altLang="en-US" sz="2400" dirty="0"/>
              <a:t>、スマホのライトを直接当てた時に</a:t>
            </a:r>
            <a:r>
              <a:rPr lang="en-US" altLang="ja-JP" sz="2400" dirty="0"/>
              <a:t>4100</a:t>
            </a:r>
            <a:r>
              <a:rPr lang="ja-JP" altLang="en-US" sz="2400" dirty="0"/>
              <a:t>ぐらいになる。光センサーの値は</a:t>
            </a:r>
            <a:r>
              <a:rPr lang="en-US" altLang="ja-JP" sz="2400" dirty="0" err="1"/>
              <a:t>analogRead</a:t>
            </a:r>
            <a:r>
              <a:rPr lang="en-US" altLang="ja-JP" sz="2400" dirty="0"/>
              <a:t>(Sensor)</a:t>
            </a:r>
            <a:r>
              <a:rPr lang="ja-JP" altLang="en-US" sz="2400" dirty="0"/>
              <a:t>で読み取れる</a:t>
            </a:r>
            <a:endParaRPr lang="en-US" altLang="ja-JP" sz="2400" dirty="0"/>
          </a:p>
        </p:txBody>
      </p:sp>
    </p:spTree>
    <p:extLst>
      <p:ext uri="{BB962C8B-B14F-4D97-AF65-F5344CB8AC3E}">
        <p14:creationId xmlns:p14="http://schemas.microsoft.com/office/powerpoint/2010/main" val="3686994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7D9969-B167-1497-E181-C3DB893CEC2C}"/>
              </a:ext>
            </a:extLst>
          </p:cNvPr>
          <p:cNvSpPr>
            <a:spLocks noGrp="1"/>
          </p:cNvSpPr>
          <p:nvPr>
            <p:ph type="title"/>
          </p:nvPr>
        </p:nvSpPr>
        <p:spPr/>
        <p:txBody>
          <a:bodyPr/>
          <a:lstStyle/>
          <a:p>
            <a:r>
              <a:rPr kumimoji="1" lang="ja-JP" altLang="en-US" dirty="0"/>
              <a:t>　　シリアル通信をしてみよう</a:t>
            </a:r>
          </a:p>
        </p:txBody>
      </p:sp>
      <p:sp>
        <p:nvSpPr>
          <p:cNvPr id="3" name="コンテンツ プレースホルダー 2">
            <a:extLst>
              <a:ext uri="{FF2B5EF4-FFF2-40B4-BE49-F238E27FC236}">
                <a16:creationId xmlns:a16="http://schemas.microsoft.com/office/drawing/2014/main" id="{3894A3CA-03F8-D723-A293-4F56E3BA1357}"/>
              </a:ext>
            </a:extLst>
          </p:cNvPr>
          <p:cNvSpPr>
            <a:spLocks noGrp="1"/>
          </p:cNvSpPr>
          <p:nvPr>
            <p:ph idx="1"/>
          </p:nvPr>
        </p:nvSpPr>
        <p:spPr>
          <a:xfrm>
            <a:off x="427383" y="1487227"/>
            <a:ext cx="10515600" cy="4983375"/>
          </a:xfrm>
        </p:spPr>
        <p:txBody>
          <a:bodyPr>
            <a:normAutofit lnSpcReduction="10000"/>
          </a:bodyPr>
          <a:lstStyle/>
          <a:p>
            <a:pPr marL="0" indent="0">
              <a:buNone/>
            </a:pPr>
            <a:r>
              <a:rPr kumimoji="1" lang="ja-JP" altLang="en-US" sz="2400" dirty="0">
                <a:solidFill>
                  <a:schemeClr val="accent2"/>
                </a:solidFill>
              </a:rPr>
              <a:t>・目標</a:t>
            </a:r>
            <a:r>
              <a:rPr kumimoji="1" lang="en-US" altLang="ja-JP" sz="2400" dirty="0">
                <a:solidFill>
                  <a:schemeClr val="accent2"/>
                </a:solidFill>
              </a:rPr>
              <a:t>1</a:t>
            </a:r>
          </a:p>
          <a:p>
            <a:pPr marL="0" indent="0">
              <a:buNone/>
            </a:pPr>
            <a:r>
              <a:rPr kumimoji="1" lang="ja-JP" altLang="en-US" sz="2400" dirty="0"/>
              <a:t>　ボタンの</a:t>
            </a:r>
            <a:r>
              <a:rPr lang="ja-JP" altLang="en-US" sz="2400" dirty="0"/>
              <a:t>オン</a:t>
            </a:r>
            <a:r>
              <a:rPr lang="en-US" altLang="ja-JP" sz="2400" dirty="0"/>
              <a:t>/</a:t>
            </a:r>
            <a:r>
              <a:rPr lang="ja-JP" altLang="en-US" sz="2400" dirty="0"/>
              <a:t>オフ</a:t>
            </a:r>
            <a:r>
              <a:rPr kumimoji="1" lang="ja-JP" altLang="en-US" sz="2400" dirty="0"/>
              <a:t>をパソコンで見てみよう</a:t>
            </a:r>
            <a:endParaRPr kumimoji="1" lang="en-US" altLang="ja-JP" sz="2400" dirty="0"/>
          </a:p>
          <a:p>
            <a:pPr marL="0" indent="0">
              <a:buNone/>
            </a:pPr>
            <a:r>
              <a:rPr lang="ja-JP" altLang="en-US" sz="2400" dirty="0"/>
              <a:t>　サンプル</a:t>
            </a:r>
            <a:r>
              <a:rPr lang="en-US" altLang="ja-JP" sz="2400" dirty="0"/>
              <a:t>:Button Serial</a:t>
            </a:r>
          </a:p>
          <a:p>
            <a:pPr marL="0" indent="0">
              <a:buNone/>
            </a:pPr>
            <a:endParaRPr kumimoji="1" lang="en-US" altLang="ja-JP" sz="2400" dirty="0"/>
          </a:p>
          <a:p>
            <a:pPr marL="0" indent="0">
              <a:buNone/>
            </a:pPr>
            <a:r>
              <a:rPr kumimoji="1" lang="ja-JP" altLang="en-US" sz="2400" dirty="0">
                <a:solidFill>
                  <a:schemeClr val="accent2"/>
                </a:solidFill>
              </a:rPr>
              <a:t>・目標</a:t>
            </a:r>
            <a:r>
              <a:rPr kumimoji="1" lang="en-US" altLang="ja-JP" sz="2400" dirty="0">
                <a:solidFill>
                  <a:schemeClr val="accent2"/>
                </a:solidFill>
              </a:rPr>
              <a:t>2</a:t>
            </a:r>
          </a:p>
          <a:p>
            <a:pPr marL="0" indent="0">
              <a:buNone/>
            </a:pPr>
            <a:r>
              <a:rPr kumimoji="1" lang="ja-JP" altLang="en-US" sz="2400" dirty="0"/>
              <a:t>　光センサーの値をパソコンで見てみよう</a:t>
            </a:r>
            <a:endParaRPr kumimoji="1" lang="en-US" altLang="ja-JP" sz="2400" dirty="0"/>
          </a:p>
          <a:p>
            <a:pPr marL="0" indent="0">
              <a:buNone/>
            </a:pPr>
            <a:r>
              <a:rPr lang="ja-JP" altLang="en-US" sz="2400" dirty="0"/>
              <a:t>　サンプル</a:t>
            </a:r>
            <a:r>
              <a:rPr lang="en-US" altLang="ja-JP" sz="2400" dirty="0"/>
              <a:t>:Sensor Serial</a:t>
            </a:r>
          </a:p>
          <a:p>
            <a:pPr marL="0" indent="0">
              <a:buNone/>
            </a:pPr>
            <a:endParaRPr kumimoji="1" lang="en-US" altLang="ja-JP" sz="2400" dirty="0"/>
          </a:p>
          <a:p>
            <a:pPr marL="0" indent="0">
              <a:buNone/>
            </a:pPr>
            <a:r>
              <a:rPr kumimoji="1" lang="ja-JP" altLang="en-US" sz="2400" dirty="0">
                <a:solidFill>
                  <a:schemeClr val="accent2"/>
                </a:solidFill>
              </a:rPr>
              <a:t>・目標</a:t>
            </a:r>
            <a:r>
              <a:rPr kumimoji="1" lang="en-US" altLang="ja-JP" sz="2400" dirty="0">
                <a:solidFill>
                  <a:schemeClr val="accent2"/>
                </a:solidFill>
              </a:rPr>
              <a:t>3(</a:t>
            </a:r>
            <a:r>
              <a:rPr kumimoji="1" lang="ja-JP" altLang="en-US" sz="2400" dirty="0">
                <a:solidFill>
                  <a:schemeClr val="accent2"/>
                </a:solidFill>
              </a:rPr>
              <a:t>難しい</a:t>
            </a:r>
            <a:r>
              <a:rPr kumimoji="1" lang="en-US" altLang="ja-JP" sz="2400" dirty="0">
                <a:solidFill>
                  <a:schemeClr val="accent2"/>
                </a:solidFill>
              </a:rPr>
              <a:t>)</a:t>
            </a:r>
          </a:p>
          <a:p>
            <a:pPr marL="0" indent="0">
              <a:buNone/>
            </a:pPr>
            <a:r>
              <a:rPr kumimoji="1" lang="ja-JP" altLang="en-US" sz="2400" dirty="0"/>
              <a:t>　パソコンから</a:t>
            </a:r>
            <a:r>
              <a:rPr kumimoji="1" lang="en-US" altLang="ja-JP" sz="2400" dirty="0"/>
              <a:t>LED</a:t>
            </a:r>
            <a:r>
              <a:rPr kumimoji="1" lang="ja-JP" altLang="en-US" sz="2400" dirty="0"/>
              <a:t>の光り方を制御しよう</a:t>
            </a:r>
            <a:endParaRPr kumimoji="1" lang="en-US" altLang="ja-JP" sz="2400" dirty="0"/>
          </a:p>
          <a:p>
            <a:pPr marL="0" indent="0">
              <a:buNone/>
            </a:pPr>
            <a:r>
              <a:rPr kumimoji="1" lang="ja-JP" altLang="en-US" sz="2400" dirty="0"/>
              <a:t>　サンプル</a:t>
            </a:r>
            <a:r>
              <a:rPr lang="en-US" altLang="ja-JP" sz="2400" dirty="0"/>
              <a:t>:Serial LED</a:t>
            </a:r>
            <a:endParaRPr kumimoji="1" lang="ja-JP" altLang="en-US" sz="2400" dirty="0"/>
          </a:p>
        </p:txBody>
      </p:sp>
    </p:spTree>
    <p:extLst>
      <p:ext uri="{BB962C8B-B14F-4D97-AF65-F5344CB8AC3E}">
        <p14:creationId xmlns:p14="http://schemas.microsoft.com/office/powerpoint/2010/main" val="21377275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CDC3CC3-6BBD-E82A-3179-C4DC1EAC8CAD}"/>
              </a:ext>
            </a:extLst>
          </p:cNvPr>
          <p:cNvSpPr>
            <a:spLocks noGrp="1"/>
          </p:cNvSpPr>
          <p:nvPr>
            <p:ph type="title"/>
          </p:nvPr>
        </p:nvSpPr>
        <p:spPr/>
        <p:txBody>
          <a:bodyPr/>
          <a:lstStyle/>
          <a:p>
            <a:r>
              <a:rPr kumimoji="1" lang="ja-JP" altLang="en-US" dirty="0"/>
              <a:t>　　シリアル通信をしてみよう</a:t>
            </a:r>
          </a:p>
        </p:txBody>
      </p:sp>
      <p:sp>
        <p:nvSpPr>
          <p:cNvPr id="3" name="コンテンツ プレースホルダー 2">
            <a:extLst>
              <a:ext uri="{FF2B5EF4-FFF2-40B4-BE49-F238E27FC236}">
                <a16:creationId xmlns:a16="http://schemas.microsoft.com/office/drawing/2014/main" id="{B55AE914-8BAB-3A50-39D0-E7260D428EE8}"/>
              </a:ext>
            </a:extLst>
          </p:cNvPr>
          <p:cNvSpPr>
            <a:spLocks noGrp="1"/>
          </p:cNvSpPr>
          <p:nvPr>
            <p:ph idx="1"/>
          </p:nvPr>
        </p:nvSpPr>
        <p:spPr>
          <a:xfrm>
            <a:off x="427383" y="1487228"/>
            <a:ext cx="10515600" cy="2435618"/>
          </a:xfrm>
        </p:spPr>
        <p:txBody>
          <a:bodyPr>
            <a:normAutofit fontScale="92500"/>
          </a:bodyPr>
          <a:lstStyle/>
          <a:p>
            <a:pPr marL="0" indent="0">
              <a:buNone/>
            </a:pPr>
            <a:r>
              <a:rPr lang="ja-JP" altLang="en-US" sz="2400" dirty="0">
                <a:solidFill>
                  <a:schemeClr val="accent6"/>
                </a:solidFill>
              </a:rPr>
              <a:t>・ヒント</a:t>
            </a:r>
            <a:endParaRPr lang="en-US" altLang="ja-JP" sz="2400" dirty="0">
              <a:solidFill>
                <a:schemeClr val="accent6"/>
              </a:solidFill>
            </a:endParaRPr>
          </a:p>
          <a:p>
            <a:pPr marL="0" indent="0">
              <a:buNone/>
            </a:pPr>
            <a:r>
              <a:rPr kumimoji="1" lang="ja-JP" altLang="en-US" sz="2400" dirty="0"/>
              <a:t>　シリアル通信でパソコン側に何かを表示するときは、</a:t>
            </a:r>
            <a:r>
              <a:rPr kumimoji="1" lang="en-US" altLang="ja-JP" sz="2400" dirty="0" err="1"/>
              <a:t>Serial.println</a:t>
            </a:r>
            <a:r>
              <a:rPr kumimoji="1" lang="en-US" altLang="ja-JP" sz="2400" dirty="0"/>
              <a:t>(</a:t>
            </a:r>
            <a:r>
              <a:rPr kumimoji="1" lang="ja-JP" altLang="en-US" sz="2400" dirty="0"/>
              <a:t>表示内容</a:t>
            </a:r>
            <a:r>
              <a:rPr kumimoji="1" lang="en-US" altLang="ja-JP" sz="2400" dirty="0"/>
              <a:t>)</a:t>
            </a:r>
            <a:r>
              <a:rPr kumimoji="1" lang="ja-JP" altLang="en-US" sz="2400" dirty="0"/>
              <a:t>とすれば良い</a:t>
            </a:r>
            <a:endParaRPr kumimoji="1" lang="en-US" altLang="ja-JP" sz="2400" dirty="0"/>
          </a:p>
          <a:p>
            <a:pPr marL="0" indent="0">
              <a:buNone/>
            </a:pPr>
            <a:r>
              <a:rPr lang="ja-JP" altLang="en-US" sz="2400" dirty="0"/>
              <a:t>　逆にパソコンから文字が送られてきた際は、</a:t>
            </a:r>
            <a:r>
              <a:rPr lang="en-US" altLang="ja-JP" sz="2400" dirty="0" err="1"/>
              <a:t>Serial.Read</a:t>
            </a:r>
            <a:r>
              <a:rPr lang="en-US" altLang="ja-JP" sz="2400" dirty="0"/>
              <a:t>()</a:t>
            </a:r>
            <a:r>
              <a:rPr lang="ja-JP" altLang="en-US" sz="2400" dirty="0"/>
              <a:t>で受け取れるが、何も送られてきていない時に実行するとエラーとなるので、送られてきた時だけ</a:t>
            </a:r>
            <a:r>
              <a:rPr lang="en-US" altLang="ja-JP" sz="2400" dirty="0"/>
              <a:t>1</a:t>
            </a:r>
            <a:r>
              <a:rPr lang="ja-JP" altLang="en-US" sz="2400" dirty="0"/>
              <a:t>を、それ以外の時は</a:t>
            </a:r>
            <a:r>
              <a:rPr lang="en-US" altLang="ja-JP" sz="2400" dirty="0"/>
              <a:t>0</a:t>
            </a:r>
            <a:r>
              <a:rPr lang="ja-JP" altLang="en-US" sz="2400" dirty="0"/>
              <a:t>を返す</a:t>
            </a:r>
            <a:r>
              <a:rPr lang="en-US" altLang="ja-JP" dirty="0" err="1"/>
              <a:t>Serial.available</a:t>
            </a:r>
            <a:r>
              <a:rPr lang="en-US" altLang="ja-JP" sz="2400" dirty="0"/>
              <a:t>()</a:t>
            </a:r>
            <a:r>
              <a:rPr lang="ja-JP" altLang="en-US" sz="2400" dirty="0"/>
              <a:t>を使って、</a:t>
            </a:r>
            <a:r>
              <a:rPr lang="en-US" altLang="ja-JP" sz="2400" dirty="0"/>
              <a:t>if</a:t>
            </a:r>
            <a:r>
              <a:rPr lang="ja-JP" altLang="en-US" sz="2400" dirty="0"/>
              <a:t>文で分岐させるのが良い</a:t>
            </a:r>
            <a:endParaRPr lang="en-US" altLang="ja-JP" dirty="0"/>
          </a:p>
        </p:txBody>
      </p:sp>
    </p:spTree>
    <p:extLst>
      <p:ext uri="{BB962C8B-B14F-4D97-AF65-F5344CB8AC3E}">
        <p14:creationId xmlns:p14="http://schemas.microsoft.com/office/powerpoint/2010/main" val="455077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4">
          <a:extLst>
            <a:ext uri="{FF2B5EF4-FFF2-40B4-BE49-F238E27FC236}">
              <a16:creationId xmlns:a16="http://schemas.microsoft.com/office/drawing/2014/main" id="{8E7758AC-BFE6-C468-B4AD-6E9C374580FD}"/>
            </a:ext>
          </a:extLst>
        </p:cNvPr>
        <p:cNvGrpSpPr/>
        <p:nvPr/>
      </p:nvGrpSpPr>
      <p:grpSpPr>
        <a:xfrm>
          <a:off x="0" y="0"/>
          <a:ext cx="0" cy="0"/>
          <a:chOff x="0" y="0"/>
          <a:chExt cx="0" cy="0"/>
        </a:xfrm>
      </p:grpSpPr>
      <p:sp>
        <p:nvSpPr>
          <p:cNvPr id="85" name="Google Shape;85;p11">
            <a:extLst>
              <a:ext uri="{FF2B5EF4-FFF2-40B4-BE49-F238E27FC236}">
                <a16:creationId xmlns:a16="http://schemas.microsoft.com/office/drawing/2014/main" id="{9D3BFE62-272B-4F1B-75FB-D9CEA645E885}"/>
              </a:ext>
            </a:extLst>
          </p:cNvPr>
          <p:cNvSpPr txBox="1">
            <a:spLocks noGrp="1"/>
          </p:cNvSpPr>
          <p:nvPr>
            <p:ph type="title"/>
          </p:nvPr>
        </p:nvSpPr>
        <p:spPr>
          <a:xfrm>
            <a:off x="831850" y="1709738"/>
            <a:ext cx="11461077" cy="2852737"/>
          </a:xfrm>
          <a:noFill/>
          <a:ln>
            <a:noFill/>
          </a:ln>
        </p:spPr>
        <p:txBody>
          <a:bodyPr spcFirstLastPara="1" wrap="square" lIns="91425" tIns="45700" rIns="91425" bIns="45700" anchor="b" anchorCtr="0">
            <a:normAutofit/>
          </a:bodyPr>
          <a:lstStyle/>
          <a:p>
            <a:r>
              <a:rPr lang="en-US" altLang="ja-JP" dirty="0"/>
              <a:t>CREATE</a:t>
            </a:r>
            <a:r>
              <a:rPr lang="ja-JP" altLang="en-US"/>
              <a:t>電装班紹介</a:t>
            </a:r>
            <a:br>
              <a:rPr lang="ja-JP" altLang="en-US" dirty="0">
                <a:sym typeface="Calibri"/>
              </a:rPr>
            </a:br>
            <a:endParaRPr lang="ja-JP" altLang="en-US" dirty="0"/>
          </a:p>
        </p:txBody>
      </p:sp>
      <p:sp>
        <p:nvSpPr>
          <p:cNvPr id="4" name="テキスト プレースホルダー 3">
            <a:extLst>
              <a:ext uri="{FF2B5EF4-FFF2-40B4-BE49-F238E27FC236}">
                <a16:creationId xmlns:a16="http://schemas.microsoft.com/office/drawing/2014/main" id="{EF4593DE-1A1D-0EE0-0FF3-F55F2BA97133}"/>
              </a:ext>
            </a:extLst>
          </p:cNvPr>
          <p:cNvSpPr>
            <a:spLocks noGrp="1"/>
          </p:cNvSpPr>
          <p:nvPr>
            <p:ph type="body" idx="1"/>
          </p:nvPr>
        </p:nvSpPr>
        <p:spPr/>
        <p:txBody>
          <a:bodyPr/>
          <a:lstStyle/>
          <a:p>
            <a:endParaRPr lang="ja-JP" altLang="en-US"/>
          </a:p>
        </p:txBody>
      </p:sp>
    </p:spTree>
    <p:extLst>
      <p:ext uri="{BB962C8B-B14F-4D97-AF65-F5344CB8AC3E}">
        <p14:creationId xmlns:p14="http://schemas.microsoft.com/office/powerpoint/2010/main" val="27070183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2E0EAFB7-9A1F-074B-C8E4-FE39D70F5C74}"/>
              </a:ext>
            </a:extLst>
          </p:cNvPr>
          <p:cNvSpPr>
            <a:spLocks noGrp="1"/>
          </p:cNvSpPr>
          <p:nvPr>
            <p:ph type="body" idx="1"/>
          </p:nvPr>
        </p:nvSpPr>
        <p:spPr/>
        <p:txBody>
          <a:bodyPr>
            <a:normAutofit fontScale="70000" lnSpcReduction="20000"/>
          </a:bodyPr>
          <a:lstStyle/>
          <a:p>
            <a:r>
              <a:rPr lang="en-US" altLang="ja-JP" dirty="0"/>
              <a:t>Challengers of Rocket Engineering and Avionics at </a:t>
            </a:r>
            <a:r>
              <a:rPr lang="en-US" altLang="ja-JP" dirty="0" err="1"/>
              <a:t>TokyoTech</a:t>
            </a:r>
            <a:r>
              <a:rPr lang="en-US" altLang="ja-JP" dirty="0"/>
              <a:t>​</a:t>
            </a:r>
            <a:r>
              <a:rPr lang="ja-JP" altLang="en-US"/>
              <a:t>を略して</a:t>
            </a:r>
            <a:r>
              <a:rPr lang="en-US" altLang="ja-JP" dirty="0"/>
              <a:t>CREATE​</a:t>
            </a:r>
            <a:r>
              <a:rPr lang="ja-JP" altLang="en-US"/>
              <a:t>という団体名になっています。</a:t>
            </a:r>
          </a:p>
          <a:p>
            <a:pPr marL="114300" indent="0">
              <a:buNone/>
            </a:pPr>
            <a:endParaRPr lang="ja-JP" altLang="en-US"/>
          </a:p>
          <a:p>
            <a:r>
              <a:rPr lang="en-US" altLang="ja-JP" dirty="0"/>
              <a:t>CREATE</a:t>
            </a:r>
            <a:r>
              <a:rPr lang="ja-JP" altLang="en-US"/>
              <a:t>はハイブリッドロケットの開発・製作・打上げを行う，東京科学大学の技術系公認サークルです。</a:t>
            </a:r>
          </a:p>
          <a:p>
            <a:pPr marL="114300" indent="0">
              <a:buNone/>
            </a:pPr>
            <a:endParaRPr lang="ja-JP" altLang="en-US"/>
          </a:p>
          <a:p>
            <a:r>
              <a:rPr lang="ja-JP" altLang="en-US"/>
              <a:t>部員は自分達で設定した目標に向けて日々技術開発・製作に勤しんでいます。</a:t>
            </a:r>
          </a:p>
          <a:p>
            <a:r>
              <a:rPr lang="ja-JP" altLang="en-US"/>
              <a:t>到達高度の高高度化といった長期に渡る開発に取り組む傍ら，ユニークなミッションを設定した機体を作ることもあります。</a:t>
            </a:r>
          </a:p>
          <a:p>
            <a:pPr marL="114300" indent="0">
              <a:buNone/>
            </a:pPr>
            <a:endParaRPr lang="ja-JP" altLang="en-US"/>
          </a:p>
          <a:p>
            <a:r>
              <a:rPr lang="en-US" altLang="ja-JP" dirty="0"/>
              <a:t>CREATE</a:t>
            </a:r>
            <a:r>
              <a:rPr lang="ja-JP" altLang="en-US"/>
              <a:t>にはロケット・宇宙好きはもちろん，航空機・エンジンに興味がある人や単にモノづくりがしたいという人も在籍しています。</a:t>
            </a:r>
          </a:p>
          <a:p>
            <a:r>
              <a:rPr lang="ja-JP" altLang="en-US"/>
              <a:t>工学院のみならず理学院から生命理工学院まで幅広い専攻の学生が集まっていることも特徴です。</a:t>
            </a:r>
            <a:endParaRPr lang="en-US" altLang="ja-JP" dirty="0"/>
          </a:p>
          <a:p>
            <a:endParaRPr lang="ja-JP" altLang="en-US"/>
          </a:p>
        </p:txBody>
      </p:sp>
      <p:sp>
        <p:nvSpPr>
          <p:cNvPr id="6" name="テキスト プレースホルダー 5">
            <a:extLst>
              <a:ext uri="{FF2B5EF4-FFF2-40B4-BE49-F238E27FC236}">
                <a16:creationId xmlns:a16="http://schemas.microsoft.com/office/drawing/2014/main" id="{24F5C835-A899-50D4-8863-4D26CFEA42FF}"/>
              </a:ext>
            </a:extLst>
          </p:cNvPr>
          <p:cNvSpPr>
            <a:spLocks noGrp="1"/>
          </p:cNvSpPr>
          <p:nvPr>
            <p:ph type="body" idx="13"/>
          </p:nvPr>
        </p:nvSpPr>
        <p:spPr/>
        <p:txBody>
          <a:bodyPr/>
          <a:lstStyle/>
          <a:p>
            <a:r>
              <a:rPr lang="en-US" altLang="ja-JP" dirty="0"/>
              <a:t>CREATE</a:t>
            </a:r>
            <a:r>
              <a:rPr lang="ja-JP" altLang="en-US"/>
              <a:t>とは？</a:t>
            </a:r>
            <a:r>
              <a:rPr lang="en-US" altLang="ja-JP" dirty="0"/>
              <a:t>(HP</a:t>
            </a:r>
            <a:r>
              <a:rPr lang="ja-JP" altLang="en-US"/>
              <a:t>より</a:t>
            </a:r>
            <a:r>
              <a:rPr lang="en-US" altLang="ja-JP" dirty="0"/>
              <a:t>)</a:t>
            </a:r>
          </a:p>
        </p:txBody>
      </p:sp>
      <p:sp>
        <p:nvSpPr>
          <p:cNvPr id="2" name="タイトル 1">
            <a:extLst>
              <a:ext uri="{FF2B5EF4-FFF2-40B4-BE49-F238E27FC236}">
                <a16:creationId xmlns:a16="http://schemas.microsoft.com/office/drawing/2014/main" id="{8865020E-83BE-3CE7-40AB-10FA0FDBF846}"/>
              </a:ext>
            </a:extLst>
          </p:cNvPr>
          <p:cNvSpPr>
            <a:spLocks noGrp="1"/>
          </p:cNvSpPr>
          <p:nvPr>
            <p:ph type="title"/>
          </p:nvPr>
        </p:nvSpPr>
        <p:spPr/>
        <p:txBody>
          <a:bodyPr/>
          <a:lstStyle/>
          <a:p>
            <a:r>
              <a:rPr lang="en-US" altLang="ja-JP" dirty="0"/>
              <a:t>CREATE</a:t>
            </a:r>
            <a:r>
              <a:rPr lang="ja-JP" altLang="en-US"/>
              <a:t>・電装</a:t>
            </a:r>
            <a:r>
              <a:rPr lang="ja-JP" altLang="en-US" dirty="0"/>
              <a:t>班紹介</a:t>
            </a:r>
          </a:p>
        </p:txBody>
      </p:sp>
    </p:spTree>
    <p:extLst>
      <p:ext uri="{BB962C8B-B14F-4D97-AF65-F5344CB8AC3E}">
        <p14:creationId xmlns:p14="http://schemas.microsoft.com/office/powerpoint/2010/main" val="23697936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94183A55-22D3-9D59-7ADB-FF0B7D519D6C}"/>
              </a:ext>
            </a:extLst>
          </p:cNvPr>
          <p:cNvSpPr>
            <a:spLocks noGrp="1"/>
          </p:cNvSpPr>
          <p:nvPr>
            <p:ph type="body" idx="1"/>
          </p:nvPr>
        </p:nvSpPr>
        <p:spPr/>
        <p:txBody>
          <a:bodyPr/>
          <a:lstStyle/>
          <a:p>
            <a:r>
              <a:rPr lang="ja-JP" altLang="en-US"/>
              <a:t>先輩方が優しく教えてくれる。</a:t>
            </a:r>
            <a:endParaRPr lang="en-US" altLang="ja-JP" dirty="0"/>
          </a:p>
          <a:p>
            <a:r>
              <a:rPr lang="ja-JP" altLang="en-US"/>
              <a:t>部室にいつも誰かいる。</a:t>
            </a:r>
            <a:endParaRPr lang="en-US" altLang="ja-JP" dirty="0"/>
          </a:p>
          <a:p>
            <a:r>
              <a:rPr lang="ja-JP" altLang="en-US"/>
              <a:t>みんなで一つのものを作れる。</a:t>
            </a:r>
            <a:r>
              <a:rPr lang="en-US" altLang="ja-JP" dirty="0"/>
              <a:t>(</a:t>
            </a:r>
            <a:r>
              <a:rPr lang="ja-JP" altLang="en-US"/>
              <a:t>共同開発を体験できる</a:t>
            </a:r>
            <a:r>
              <a:rPr lang="en-US" altLang="ja-JP" dirty="0"/>
              <a:t>)</a:t>
            </a:r>
          </a:p>
          <a:p>
            <a:r>
              <a:rPr lang="ja-JP" altLang="en-US"/>
              <a:t>構造班、電装班、推進班、シミュレーション班に分かれているので同じロケットを作るにしても自分がやりたい分野を担当できる。</a:t>
            </a:r>
            <a:endParaRPr lang="en-US" altLang="ja-JP" dirty="0"/>
          </a:p>
        </p:txBody>
      </p:sp>
      <p:sp>
        <p:nvSpPr>
          <p:cNvPr id="6" name="テキスト プレースホルダー 5">
            <a:extLst>
              <a:ext uri="{FF2B5EF4-FFF2-40B4-BE49-F238E27FC236}">
                <a16:creationId xmlns:a16="http://schemas.microsoft.com/office/drawing/2014/main" id="{BEC11D84-FF50-FFD8-96E3-1A20171AE19F}"/>
              </a:ext>
            </a:extLst>
          </p:cNvPr>
          <p:cNvSpPr>
            <a:spLocks noGrp="1"/>
          </p:cNvSpPr>
          <p:nvPr>
            <p:ph type="body" idx="13"/>
          </p:nvPr>
        </p:nvSpPr>
        <p:spPr/>
        <p:txBody>
          <a:bodyPr/>
          <a:lstStyle/>
          <a:p>
            <a:r>
              <a:rPr lang="en-US" altLang="ja-JP" dirty="0"/>
              <a:t>CREATE</a:t>
            </a:r>
            <a:r>
              <a:rPr lang="ja-JP" altLang="en-US"/>
              <a:t>のいいところ</a:t>
            </a:r>
            <a:endParaRPr lang="en-US" altLang="ja-JP" dirty="0"/>
          </a:p>
        </p:txBody>
      </p:sp>
      <p:sp>
        <p:nvSpPr>
          <p:cNvPr id="2" name="タイトル 1">
            <a:extLst>
              <a:ext uri="{FF2B5EF4-FFF2-40B4-BE49-F238E27FC236}">
                <a16:creationId xmlns:a16="http://schemas.microsoft.com/office/drawing/2014/main" id="{45B6C7AD-0C86-BBC9-A055-AFFFA6596187}"/>
              </a:ext>
            </a:extLst>
          </p:cNvPr>
          <p:cNvSpPr>
            <a:spLocks noGrp="1"/>
          </p:cNvSpPr>
          <p:nvPr>
            <p:ph type="title"/>
          </p:nvPr>
        </p:nvSpPr>
        <p:spPr/>
        <p:txBody>
          <a:bodyPr/>
          <a:lstStyle/>
          <a:p>
            <a:r>
              <a:rPr lang="en-US" altLang="ja-JP" dirty="0"/>
              <a:t>CREATE</a:t>
            </a:r>
            <a:r>
              <a:rPr lang="ja-JP" altLang="en-US"/>
              <a:t>・電装班紹介</a:t>
            </a:r>
          </a:p>
        </p:txBody>
      </p:sp>
    </p:spTree>
    <p:extLst>
      <p:ext uri="{BB962C8B-B14F-4D97-AF65-F5344CB8AC3E}">
        <p14:creationId xmlns:p14="http://schemas.microsoft.com/office/powerpoint/2010/main" val="3477953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EB9E2-9D74-9738-43A5-E8C68B85BAC1}"/>
            </a:ext>
          </a:extLst>
        </p:cNvPr>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7B85B3A5-DF6D-3B3E-E1B2-66372BDBB547}"/>
              </a:ext>
            </a:extLst>
          </p:cNvPr>
          <p:cNvSpPr>
            <a:spLocks noGrp="1"/>
          </p:cNvSpPr>
          <p:nvPr>
            <p:ph type="body" idx="1"/>
          </p:nvPr>
        </p:nvSpPr>
        <p:spPr/>
        <p:txBody>
          <a:bodyPr>
            <a:normAutofit lnSpcReduction="10000"/>
          </a:bodyPr>
          <a:lstStyle/>
          <a:p>
            <a:r>
              <a:rPr lang="ja-JP" altLang="en-US" dirty="0"/>
              <a:t>飛行データを記録する。</a:t>
            </a:r>
            <a:endParaRPr lang="en-US" altLang="ja-JP" dirty="0"/>
          </a:p>
          <a:p>
            <a:pPr marL="571500" lvl="1" indent="0">
              <a:buNone/>
            </a:pPr>
            <a:r>
              <a:rPr lang="ja-JP" altLang="en-US" dirty="0">
                <a:solidFill>
                  <a:schemeClr val="tx2">
                    <a:lumMod val="75000"/>
                  </a:schemeClr>
                </a:solidFill>
              </a:rPr>
              <a:t>飛んでいる時の気圧や加速度を記録する</a:t>
            </a:r>
            <a:endParaRPr lang="en-US" altLang="ja-JP" dirty="0">
              <a:solidFill>
                <a:schemeClr val="tx2">
                  <a:lumMod val="75000"/>
                </a:schemeClr>
              </a:solidFill>
            </a:endParaRPr>
          </a:p>
          <a:p>
            <a:r>
              <a:rPr lang="ja-JP" altLang="en-US" dirty="0"/>
              <a:t>パラシュートを開かせる。</a:t>
            </a:r>
            <a:endParaRPr lang="en-US" altLang="ja-JP" dirty="0"/>
          </a:p>
          <a:p>
            <a:pPr marL="571500" lvl="1" indent="0">
              <a:buNone/>
            </a:pPr>
            <a:r>
              <a:rPr lang="ja-JP" altLang="en-US" dirty="0">
                <a:solidFill>
                  <a:schemeClr val="tx2">
                    <a:lumMod val="75000"/>
                  </a:schemeClr>
                </a:solidFill>
              </a:rPr>
              <a:t>一定の条件を満たしたときにサーボモータを回してパラシュートを開く</a:t>
            </a:r>
            <a:endParaRPr lang="en-US" altLang="ja-JP" dirty="0">
              <a:solidFill>
                <a:schemeClr val="tx2">
                  <a:lumMod val="75000"/>
                </a:schemeClr>
              </a:solidFill>
            </a:endParaRPr>
          </a:p>
          <a:p>
            <a:r>
              <a:rPr lang="ja-JP" altLang="en-US" dirty="0"/>
              <a:t>地上と通信する。</a:t>
            </a:r>
            <a:endParaRPr lang="en-US" altLang="ja-JP" dirty="0"/>
          </a:p>
          <a:p>
            <a:r>
              <a:rPr lang="ja-JP" altLang="en-US" dirty="0"/>
              <a:t>離床検知したり開傘した時にそれを地上にいる班員のパソコンに送る。</a:t>
            </a:r>
            <a:endParaRPr lang="en-US" altLang="ja-JP" dirty="0"/>
          </a:p>
          <a:p>
            <a:r>
              <a:rPr lang="ja-JP" altLang="en-US" dirty="0"/>
              <a:t>ミッションを成功させる。</a:t>
            </a:r>
            <a:endParaRPr lang="en-US" altLang="ja-JP" dirty="0"/>
          </a:p>
          <a:p>
            <a:pPr marL="571500" lvl="1" indent="0">
              <a:buNone/>
            </a:pPr>
            <a:r>
              <a:rPr lang="ja-JP" altLang="en-US" dirty="0">
                <a:solidFill>
                  <a:schemeClr val="tx2">
                    <a:lumMod val="75000"/>
                  </a:schemeClr>
                </a:solidFill>
              </a:rPr>
              <a:t>前回の新入生機体ではカメラを搭載し、打ち上げ時の分離機構の様子を撮影する予定だった</a:t>
            </a:r>
          </a:p>
        </p:txBody>
      </p:sp>
      <p:sp>
        <p:nvSpPr>
          <p:cNvPr id="6" name="テキスト プレースホルダー 5">
            <a:extLst>
              <a:ext uri="{FF2B5EF4-FFF2-40B4-BE49-F238E27FC236}">
                <a16:creationId xmlns:a16="http://schemas.microsoft.com/office/drawing/2014/main" id="{C67C2631-0F76-F7E5-4F7F-0926298C4644}"/>
              </a:ext>
            </a:extLst>
          </p:cNvPr>
          <p:cNvSpPr>
            <a:spLocks noGrp="1"/>
          </p:cNvSpPr>
          <p:nvPr>
            <p:ph type="body" idx="13"/>
          </p:nvPr>
        </p:nvSpPr>
        <p:spPr/>
        <p:txBody>
          <a:bodyPr/>
          <a:lstStyle/>
          <a:p>
            <a:r>
              <a:rPr lang="ja-JP" altLang="en-US"/>
              <a:t>電装班の仕事</a:t>
            </a:r>
            <a:endParaRPr lang="en-US" altLang="ja-JP" dirty="0"/>
          </a:p>
        </p:txBody>
      </p:sp>
      <p:sp>
        <p:nvSpPr>
          <p:cNvPr id="2" name="タイトル 1">
            <a:extLst>
              <a:ext uri="{FF2B5EF4-FFF2-40B4-BE49-F238E27FC236}">
                <a16:creationId xmlns:a16="http://schemas.microsoft.com/office/drawing/2014/main" id="{FE812D70-508F-4327-156C-96E0D046AAF9}"/>
              </a:ext>
            </a:extLst>
          </p:cNvPr>
          <p:cNvSpPr>
            <a:spLocks noGrp="1"/>
          </p:cNvSpPr>
          <p:nvPr>
            <p:ph type="title"/>
          </p:nvPr>
        </p:nvSpPr>
        <p:spPr/>
        <p:txBody>
          <a:bodyPr/>
          <a:lstStyle/>
          <a:p>
            <a:r>
              <a:rPr lang="en-US" altLang="ja-JP" dirty="0"/>
              <a:t>CREATE</a:t>
            </a:r>
            <a:r>
              <a:rPr lang="ja-JP" altLang="en-US"/>
              <a:t>・電装</a:t>
            </a:r>
            <a:r>
              <a:rPr lang="ja-JP" altLang="en-US" dirty="0"/>
              <a:t>班紹介</a:t>
            </a:r>
          </a:p>
        </p:txBody>
      </p:sp>
    </p:spTree>
    <p:extLst>
      <p:ext uri="{BB962C8B-B14F-4D97-AF65-F5344CB8AC3E}">
        <p14:creationId xmlns:p14="http://schemas.microsoft.com/office/powerpoint/2010/main" val="20942320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ctrTitle"/>
          </p:nvPr>
        </p:nvSpPr>
        <p:spPr>
          <a:xfrm>
            <a:off x="1524000" y="1122363"/>
            <a:ext cx="9144000" cy="2387600"/>
          </a:xfrm>
          <a:noFill/>
          <a:ln>
            <a:noFill/>
          </a:ln>
        </p:spPr>
        <p:txBody>
          <a:bodyPr spcFirstLastPara="1" wrap="square" lIns="91425" tIns="45700" rIns="91425" bIns="45700" anchor="b" anchorCtr="0">
            <a:normAutofit/>
          </a:bodyPr>
          <a:lstStyle/>
          <a:p>
            <a:pPr lvl="0"/>
            <a:r>
              <a:rPr lang="ja-JP" altLang="en-US" dirty="0"/>
              <a:t>ぜひ</a:t>
            </a:r>
            <a:r>
              <a:rPr lang="en-US" altLang="ja-JP" dirty="0"/>
              <a:t>CREATE</a:t>
            </a:r>
            <a:r>
              <a:rPr lang="ja-JP" altLang="en-US"/>
              <a:t>へ！</a:t>
            </a:r>
            <a:endParaRPr lang="ja-JP" altLang="en-US" dirty="0"/>
          </a:p>
        </p:txBody>
      </p:sp>
      <p:sp>
        <p:nvSpPr>
          <p:cNvPr id="4" name="字幕 3">
            <a:extLst>
              <a:ext uri="{FF2B5EF4-FFF2-40B4-BE49-F238E27FC236}">
                <a16:creationId xmlns:a16="http://schemas.microsoft.com/office/drawing/2014/main" id="{1519BC5D-6504-1BC4-332E-B883BC30AAB1}"/>
              </a:ext>
            </a:extLst>
          </p:cNvPr>
          <p:cNvSpPr>
            <a:spLocks noGrp="1"/>
          </p:cNvSpPr>
          <p:nvPr>
            <p:ph type="subTitle" idx="1"/>
          </p:nvPr>
        </p:nvSpPr>
        <p:spPr/>
        <p:txBody>
          <a:bodyPr/>
          <a:lstStyle/>
          <a:p>
            <a:endParaRPr lang="ja-JP"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427383" y="266699"/>
            <a:ext cx="8844804" cy="755451"/>
          </a:xfrm>
          <a:noFill/>
          <a:ln>
            <a:noFill/>
          </a:ln>
        </p:spPr>
        <p:txBody>
          <a:bodyPr spcFirstLastPara="1" wrap="square" lIns="91425" tIns="45700" rIns="91425" bIns="45700" anchor="ctr" anchorCtr="0">
            <a:normAutofit/>
          </a:bodyPr>
          <a:lstStyle/>
          <a:p>
            <a:pPr lvl="0"/>
            <a:r>
              <a:rPr lang="ja-JP" altLang="en-US"/>
              <a:t>編集履歴</a:t>
            </a:r>
          </a:p>
        </p:txBody>
      </p:sp>
      <p:sp>
        <p:nvSpPr>
          <p:cNvPr id="113" name="Google Shape;113;p15"/>
          <p:cNvSpPr txBox="1">
            <a:spLocks noGrp="1"/>
          </p:cNvSpPr>
          <p:nvPr>
            <p:ph type="body" idx="1"/>
          </p:nvPr>
        </p:nvSpPr>
        <p:spPr>
          <a:xfrm>
            <a:off x="427383" y="1487227"/>
            <a:ext cx="10515600" cy="4977071"/>
          </a:xfrm>
          <a:noFill/>
          <a:ln>
            <a:noFill/>
          </a:ln>
        </p:spPr>
        <p:txBody>
          <a:bodyPr spcFirstLastPara="1" wrap="square" lIns="91425" tIns="45700" rIns="91425" bIns="45700" anchor="t" anchorCtr="0">
            <a:normAutofit/>
          </a:bodyPr>
          <a:lstStyle/>
          <a:p>
            <a:pPr lvl="0"/>
            <a:r>
              <a:rPr lang="ja-JP" altLang="en-US"/>
              <a:t>編集者氏名（</a:t>
            </a:r>
            <a:r>
              <a:rPr lang="en-US" altLang="ja-JP"/>
              <a:t>YYYY/MM/DD</a:t>
            </a:r>
            <a:r>
              <a:rPr lang="ja-JP" altLang="en-US"/>
              <a:t>）</a:t>
            </a:r>
            <a:endParaRPr lang="en-US"/>
          </a:p>
          <a:p>
            <a:pPr lvl="0"/>
            <a:endParaRPr lang="en-US"/>
          </a:p>
          <a:p>
            <a:pPr lvl="0"/>
            <a:endParaRPr lang="en-US"/>
          </a:p>
        </p:txBody>
      </p:sp>
    </p:spTree>
  </p:cSld>
  <p:clrMapOvr>
    <a:masterClrMapping/>
  </p:clrMapOvr>
</p:sld>
</file>

<file path=ppt/theme/theme1.xml><?xml version="1.0" encoding="utf-8"?>
<a:theme xmlns:a="http://schemas.openxmlformats.org/drawingml/2006/main" name="Office テーマ">
  <a:themeElements>
    <a:clrScheme name="Office テーマ">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9E3AC"/>
        </a:solidFill>
        <a:ln>
          <a:solidFill>
            <a:srgbClr val="90BE6D"/>
          </a:solidFill>
        </a:ln>
      </a:spPr>
      <a:bodyPr rtlCol="0" anchor="ctr"/>
      <a:lstStyle>
        <a:defPPr algn="ctr">
          <a:defRPr kumimoji="1" dirty="0">
            <a:latin typeface="Helvetica Neue" panose="02000503000000020004" pitchFamily="2" charset="0"/>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3060</TotalTime>
  <Words>1918</Words>
  <Application>Microsoft Office PowerPoint</Application>
  <PresentationFormat>ワイド画面</PresentationFormat>
  <Paragraphs>223</Paragraphs>
  <Slides>33</Slides>
  <Notes>12</Notes>
  <HiddenSlides>1</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33</vt:i4>
      </vt:variant>
    </vt:vector>
  </HeadingPairs>
  <TitlesOfParts>
    <vt:vector size="42" baseType="lpstr">
      <vt:lpstr>A P-OTF Gothic MB101 Pr6N B</vt:lpstr>
      <vt:lpstr>A P-OTF ゴシックMB101 Pr6N B</vt:lpstr>
      <vt:lpstr>A-OTF Gothic BBB Pr6N Medium</vt:lpstr>
      <vt:lpstr>A-OTF 中ゴシックBBB Pr6N Med</vt:lpstr>
      <vt:lpstr>Helvetica Neue</vt:lpstr>
      <vt:lpstr>Arial</vt:lpstr>
      <vt:lpstr>Artifakt Element</vt:lpstr>
      <vt:lpstr>Calibri</vt:lpstr>
      <vt:lpstr>Office テーマ</vt:lpstr>
      <vt:lpstr>電装班新歓 -LEDをピカピカ光らせよう！-</vt:lpstr>
      <vt:lpstr>本日の流れ</vt:lpstr>
      <vt:lpstr>1. 使う部品の紹介 </vt:lpstr>
      <vt:lpstr>1. 使う部品の紹介</vt:lpstr>
      <vt:lpstr>ブレッドボード</vt:lpstr>
      <vt:lpstr>マイコンボード（ESP32-S3-WROOM-1）</vt:lpstr>
      <vt:lpstr>RGB LED (OSTA5131A-R/PG/B)</vt:lpstr>
      <vt:lpstr>光センサ（CdSセル）</vt:lpstr>
      <vt:lpstr>ボタン（タクトスイッチ）</vt:lpstr>
      <vt:lpstr>2. パソコンで環境構築しよう！ </vt:lpstr>
      <vt:lpstr>2. パソコンで環境構築しよう！</vt:lpstr>
      <vt:lpstr>Visual Studio codeをインストール</vt:lpstr>
      <vt:lpstr>Visual Studio codeをインストール</vt:lpstr>
      <vt:lpstr>PlatformIO IDEをインストール</vt:lpstr>
      <vt:lpstr>プロジェクト作成</vt:lpstr>
      <vt:lpstr>プログラム実行の流れ</vt:lpstr>
      <vt:lpstr>2. パソコンで環境構築しよう！</vt:lpstr>
      <vt:lpstr>補. 今回の開発の取り組み方</vt:lpstr>
      <vt:lpstr>LEDをピカピカ光らせよう</vt:lpstr>
      <vt:lpstr>LEDをピカピカ光らせよう</vt:lpstr>
      <vt:lpstr>LEDをピカピカ光らせよう</vt:lpstr>
      <vt:lpstr>LEDをピカピカ光らせよう</vt:lpstr>
      <vt:lpstr>　　次にやるものを選ぼう</vt:lpstr>
      <vt:lpstr>　　ボタンを使ってみよう</vt:lpstr>
      <vt:lpstr>　　光センサーを使ってみよう</vt:lpstr>
      <vt:lpstr>　　シリアル通信をしてみよう</vt:lpstr>
      <vt:lpstr>　　シリアル通信をしてみよう</vt:lpstr>
      <vt:lpstr>CREATE電装班紹介 </vt:lpstr>
      <vt:lpstr>CREATE・電装班紹介</vt:lpstr>
      <vt:lpstr>CREATE・電装班紹介</vt:lpstr>
      <vt:lpstr>CREATE・電装班紹介</vt:lpstr>
      <vt:lpstr>ぜひCREATEへ！</vt:lpstr>
      <vt:lpstr>編集履歴</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nakoteea@gmail.com</cp:lastModifiedBy>
  <cp:revision>45</cp:revision>
  <cp:lastPrinted>2025-04-07T14:24:08Z</cp:lastPrinted>
  <dcterms:modified xsi:type="dcterms:W3CDTF">2026-04-06T21:07:39Z</dcterms:modified>
</cp:coreProperties>
</file>